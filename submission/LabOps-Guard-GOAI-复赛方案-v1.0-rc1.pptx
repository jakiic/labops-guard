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47c6d5ecfa14b61" /><Relationship Type="http://schemas.openxmlformats.org/officeDocument/2006/relationships/extended-properties" Target="/docProps/app.xml" Id="R73805988524e46b3" /><Relationship Type="http://schemas.openxmlformats.org/officeDocument/2006/relationships/officeDocument" Target="/ppt/presentation.xml" Id="Rffdd5afbd0db4ab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be7a2d88fc94aa8"/>
    <p:sldMasterId xmlns:r="http://schemas.openxmlformats.org/officeDocument/2006/relationships" id="2147483650" r:id="R738311b2a74b4b23"/>
  </p:sldMasterIdLst>
  <p:notesMasterIdLst>
    <p:notesMasterId xmlns:r="http://schemas.openxmlformats.org/officeDocument/2006/relationships" r:id="Rbd5f1a05a7404670"/>
  </p:notesMasterIdLst>
  <p:sldIdLst>
    <p:sldId xmlns:r="http://schemas.openxmlformats.org/officeDocument/2006/relationships" id="256" r:id="R9dbfea4a3616432e"/>
    <p:sldId xmlns:r="http://schemas.openxmlformats.org/officeDocument/2006/relationships" id="257" r:id="R5a51a71141b04aff"/>
    <p:sldId xmlns:r="http://schemas.openxmlformats.org/officeDocument/2006/relationships" id="258" r:id="R1642428288a7471c"/>
    <p:sldId xmlns:r="http://schemas.openxmlformats.org/officeDocument/2006/relationships" id="259" r:id="Rbb68735aad624955"/>
    <p:sldId xmlns:r="http://schemas.openxmlformats.org/officeDocument/2006/relationships" id="260" r:id="R353d58ebace546ce"/>
    <p:sldId xmlns:r="http://schemas.openxmlformats.org/officeDocument/2006/relationships" id="261" r:id="Rb08bc56a2c8e429b"/>
    <p:sldId xmlns:r="http://schemas.openxmlformats.org/officeDocument/2006/relationships" id="262" r:id="Refc2eaf75ce74679"/>
    <p:sldId xmlns:r="http://schemas.openxmlformats.org/officeDocument/2006/relationships" id="263" r:id="R5e1bb1a71e2741c2"/>
    <p:sldId xmlns:r="http://schemas.openxmlformats.org/officeDocument/2006/relationships" id="264" r:id="R91c6b7e251024dba"/>
    <p:sldId xmlns:r="http://schemas.openxmlformats.org/officeDocument/2006/relationships" id="265" r:id="R42448e1f71c04bbd"/>
    <p:sldId xmlns:r="http://schemas.openxmlformats.org/officeDocument/2006/relationships" id="266" r:id="Rb340bbf551554c5d"/>
    <p:sldId xmlns:r="http://schemas.openxmlformats.org/officeDocument/2006/relationships" id="267" r:id="Rbe150bde4d56419e"/>
    <p:sldId xmlns:r="http://schemas.openxmlformats.org/officeDocument/2006/relationships" id="268" r:id="Red9209395d5f40ef"/>
    <p:sldId xmlns:r="http://schemas.openxmlformats.org/officeDocument/2006/relationships" id="269" r:id="Rcb92f37e41794505"/>
    <p:sldId xmlns:r="http://schemas.openxmlformats.org/officeDocument/2006/relationships" id="270" r:id="Rdfc5e008e06b49c6"/>
    <p:sldId xmlns:r="http://schemas.openxmlformats.org/officeDocument/2006/relationships" id="271" r:id="Ra2bdc0b22069439a"/>
    <p:sldId xmlns:r="http://schemas.openxmlformats.org/officeDocument/2006/relationships" id="272" r:id="Raf4fb2145a294fce"/>
    <p:sldId xmlns:r="http://schemas.openxmlformats.org/officeDocument/2006/relationships" id="273" r:id="R3b331ab111214a2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7e7f8c9aff74230" /><Relationship Type="http://schemas.openxmlformats.org/officeDocument/2006/relationships/slideMaster" Target="/ppt/slideMasters/slideMaster1.xml" Id="Rfbe7a2d88fc94aa8" /><Relationship Type="http://schemas.openxmlformats.org/officeDocument/2006/relationships/slideMaster" Target="/ppt/slideMasters/slideMaster2.xml" Id="R738311b2a74b4b23" /><Relationship Type="http://schemas.openxmlformats.org/officeDocument/2006/relationships/notesMaster" Target="/ppt/notesMasters/notesMaster1.xml" Id="Rbd5f1a05a7404670" /><Relationship Type="http://schemas.openxmlformats.org/officeDocument/2006/relationships/presProps" Target="/ppt/presProps.xml" Id="Reeefeb3ebb2445d9" /><Relationship Type="http://schemas.openxmlformats.org/officeDocument/2006/relationships/viewProps" Target="/ppt/viewProps.xml" Id="R54f2c665a3b24422" /><Relationship Type="http://schemas.openxmlformats.org/officeDocument/2006/relationships/tableStyles" Target="/ppt/tableStyles.xml" Id="R7ef3d478442d4642" /><Relationship Type="http://schemas.openxmlformats.org/officeDocument/2006/relationships/slide" Target="/ppt/slides/slide1.xml" Id="R9dbfea4a3616432e" /><Relationship Type="http://schemas.openxmlformats.org/officeDocument/2006/relationships/slide" Target="/ppt/slides/slide2.xml" Id="R5a51a71141b04aff" /><Relationship Type="http://schemas.openxmlformats.org/officeDocument/2006/relationships/slide" Target="/ppt/slides/slide3.xml" Id="R1642428288a7471c" /><Relationship Type="http://schemas.openxmlformats.org/officeDocument/2006/relationships/slide" Target="/ppt/slides/slide4.xml" Id="Rbb68735aad624955" /><Relationship Type="http://schemas.openxmlformats.org/officeDocument/2006/relationships/slide" Target="/ppt/slides/slide5.xml" Id="R353d58ebace546ce" /><Relationship Type="http://schemas.openxmlformats.org/officeDocument/2006/relationships/slide" Target="/ppt/slides/slide6.xml" Id="Rb08bc56a2c8e429b" /><Relationship Type="http://schemas.openxmlformats.org/officeDocument/2006/relationships/slide" Target="/ppt/slides/slide7.xml" Id="Refc2eaf75ce74679" /><Relationship Type="http://schemas.openxmlformats.org/officeDocument/2006/relationships/slide" Target="/ppt/slides/slide8.xml" Id="R5e1bb1a71e2741c2" /><Relationship Type="http://schemas.openxmlformats.org/officeDocument/2006/relationships/slide" Target="/ppt/slides/slide9.xml" Id="R91c6b7e251024dba" /><Relationship Type="http://schemas.openxmlformats.org/officeDocument/2006/relationships/slide" Target="/ppt/slides/slide10.xml" Id="R42448e1f71c04bbd" /><Relationship Type="http://schemas.openxmlformats.org/officeDocument/2006/relationships/slide" Target="/ppt/slides/slide11.xml" Id="Rb340bbf551554c5d" /><Relationship Type="http://schemas.openxmlformats.org/officeDocument/2006/relationships/slide" Target="/ppt/slides/slide12.xml" Id="Rbe150bde4d56419e" /><Relationship Type="http://schemas.openxmlformats.org/officeDocument/2006/relationships/slide" Target="/ppt/slides/slide13.xml" Id="Red9209395d5f40ef" /><Relationship Type="http://schemas.openxmlformats.org/officeDocument/2006/relationships/slide" Target="/ppt/slides/slide14.xml" Id="Rcb92f37e41794505" /><Relationship Type="http://schemas.openxmlformats.org/officeDocument/2006/relationships/slide" Target="/ppt/slides/slide15.xml" Id="Rdfc5e008e06b49c6" /><Relationship Type="http://schemas.openxmlformats.org/officeDocument/2006/relationships/slide" Target="/ppt/slides/slide16.xml" Id="Ra2bdc0b22069439a" /><Relationship Type="http://schemas.openxmlformats.org/officeDocument/2006/relationships/slide" Target="/ppt/slides/slide17.xml" Id="Raf4fb2145a294fce" /><Relationship Type="http://schemas.openxmlformats.org/officeDocument/2006/relationships/slide" Target="/ppt/slides/slide18.xml" Id="R3b331ab111214a2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3037401ead194dc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025b3de52324209" /><Relationship Type="http://schemas.openxmlformats.org/officeDocument/2006/relationships/notesMaster" Target="/ppt/notesMasters/notesMaster1.xml" Id="Rb3a8a33b800347d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320b5bb65284130" /><Relationship Type="http://schemas.openxmlformats.org/officeDocument/2006/relationships/notesMaster" Target="/ppt/notesMasters/notesMaster1.xml" Id="R652c2e52064848a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2489636a2524beb" /><Relationship Type="http://schemas.openxmlformats.org/officeDocument/2006/relationships/notesMaster" Target="/ppt/notesMasters/notesMaster1.xml" Id="R13d91090cdb0492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276363dde554496" /><Relationship Type="http://schemas.openxmlformats.org/officeDocument/2006/relationships/notesMaster" Target="/ppt/notesMasters/notesMaster1.xml" Id="R7ac0e50e441e470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f8a9d5f24c341bb" /><Relationship Type="http://schemas.openxmlformats.org/officeDocument/2006/relationships/notesMaster" Target="/ppt/notesMasters/notesMaster1.xml" Id="R2a3bb8393886484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eb79136257f4faf" /><Relationship Type="http://schemas.openxmlformats.org/officeDocument/2006/relationships/notesMaster" Target="/ppt/notesMasters/notesMaster1.xml" Id="R5a154f256fef4f7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48f702cc363427c" /><Relationship Type="http://schemas.openxmlformats.org/officeDocument/2006/relationships/notesMaster" Target="/ppt/notesMasters/notesMaster1.xml" Id="R3f8abccfffb74e4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55a9deff873489b" /><Relationship Type="http://schemas.openxmlformats.org/officeDocument/2006/relationships/notesMaster" Target="/ppt/notesMasters/notesMaster1.xml" Id="R2119864e2b47400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2526baff9324965" /><Relationship Type="http://schemas.openxmlformats.org/officeDocument/2006/relationships/notesMaster" Target="/ppt/notesMasters/notesMaster1.xml" Id="R8ab622215e1b469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ab60798be98421d" /><Relationship Type="http://schemas.openxmlformats.org/officeDocument/2006/relationships/notesMaster" Target="/ppt/notesMasters/notesMaster1.xml" Id="Rf0f41d17b9364f2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93192d1a23641cb" /><Relationship Type="http://schemas.openxmlformats.org/officeDocument/2006/relationships/notesMaster" Target="/ppt/notesMasters/notesMaster1.xml" Id="R9de6b72bbb264a1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1fbc768c2c74f4d" /><Relationship Type="http://schemas.openxmlformats.org/officeDocument/2006/relationships/notesMaster" Target="/ppt/notesMasters/notesMaster1.xml" Id="R77aaa1711c574a7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05039267ae44f8c" /><Relationship Type="http://schemas.openxmlformats.org/officeDocument/2006/relationships/notesMaster" Target="/ppt/notesMasters/notesMaster1.xml" Id="Rd156a4ff5e5d43a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0a439546a9d4ff2" /><Relationship Type="http://schemas.openxmlformats.org/officeDocument/2006/relationships/notesMaster" Target="/ppt/notesMasters/notesMaster1.xml" Id="Ra5c411c43e9a4a0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d675a10983945da" /><Relationship Type="http://schemas.openxmlformats.org/officeDocument/2006/relationships/notesMaster" Target="/ppt/notesMasters/notesMaster1.xml" Id="Rded6489e75864c7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6595a6839d04df9" /><Relationship Type="http://schemas.openxmlformats.org/officeDocument/2006/relationships/notesMaster" Target="/ppt/notesMasters/notesMaster1.xml" Id="R5119ae2de3034ab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08f83c19fa740d6" /><Relationship Type="http://schemas.openxmlformats.org/officeDocument/2006/relationships/notesMaster" Target="/ppt/notesMasters/notesMaster1.xml" Id="Rccaeb4180dba411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9722cf1345647e3" /><Relationship Type="http://schemas.openxmlformats.org/officeDocument/2006/relationships/notesMaster" Target="/ppt/notesMasters/notesMaster1.xml" Id="Rc15b9dff5e5d441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README.md; CURRENT_STATE.md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docs/security-model.md; docs/competition-mapping.md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README.md; KNOWN_LIMITATIONS.md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agentteams/trust_contract_v1.json; README.md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agentteams/agent_identities_v2.json; docs/agent-identity-matrix.md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skills/registry.json; docs/skill-integration-matrix.md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agentteams/state_machine_v3.json; agentteams/trust_contract_v1.json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schemas/tool_contract.schema.json; labops/runner_gateway.py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docs/agent-identity-matrix.md; demo/output-agentteams-at004/verification.json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docs/observability.md; demo/output-agentteams-at004/LABOPS-AT-004-EVAL-DRIFT-evidence-bundle.zip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labops/dashboard.html; labops/web.py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docs/LABOPS-AT-004-DEMO.md; demo/output-agentteams-at004/evidence.json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docs/LABOPS-AT-004-DEMO.md; demo/output-agentteams-at004/verification.json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docs/security-model.md; demo/output-agentteams-at002/rollback_result.json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docs/trust-evaluation-report-v1.0.md; evaluation/results/trust-evaluation-suite-v1.json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LICENSE; docs/compliance/runner-license-review.md; docs/compliance/runner-sbom.json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KNOWN_LIMITATIONS.md; docs/competition-mapping.md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README.md; docs/trust-evaluation-report-v1.0.md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00aac1e1334a3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6b26bf8fad24d7e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3873e641d0643f2" /><Relationship Type="http://schemas.openxmlformats.org/officeDocument/2006/relationships/slideLayout" Target="/ppt/slideLayouts/slideLayout1.xml" Id="Rec4a10f54c5c4939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19ded28667b14176" /><Relationship Type="http://schemas.openxmlformats.org/officeDocument/2006/relationships/slideLayout" Target="/ppt/slideLayouts/slideLayout2.xml" Id="R69b61ae0f13249f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c4a10f54c5c4939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69b61ae0f13249fa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cccfbdd24f4314" /><Relationship Type="http://schemas.openxmlformats.org/officeDocument/2006/relationships/notesSlide" Target="/ppt/notesSlides/notesSlide1.xml" Id="Rb8ffa0f57dc946c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923d8e89c14567" /><Relationship Type="http://schemas.openxmlformats.org/officeDocument/2006/relationships/notesSlide" Target="/ppt/notesSlides/notesSlide2.xml" Id="R69dd4173817e416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5e764527c04203" /><Relationship Type="http://schemas.openxmlformats.org/officeDocument/2006/relationships/notesSlide" Target="/ppt/notesSlides/notesSlide3.xml" Id="R665d24beed2c4ce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efbd4b2449481b" /><Relationship Type="http://schemas.openxmlformats.org/officeDocument/2006/relationships/notesSlide" Target="/ppt/notesSlides/notesSlide4.xml" Id="R06dd4d196c05481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725d21a66d4643" /><Relationship Type="http://schemas.openxmlformats.org/officeDocument/2006/relationships/notesSlide" Target="/ppt/notesSlides/notesSlide5.xml" Id="R3db0914732734cb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e91b9a6b8e466b" /><Relationship Type="http://schemas.openxmlformats.org/officeDocument/2006/relationships/notesSlide" Target="/ppt/notesSlides/notesSlide6.xml" Id="R1c8dbf19319e4ed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1a3148d14c4098" /><Relationship Type="http://schemas.openxmlformats.org/officeDocument/2006/relationships/notesSlide" Target="/ppt/notesSlides/notesSlide7.xml" Id="R226560dae400466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9e952cb46e4d84" /><Relationship Type="http://schemas.openxmlformats.org/officeDocument/2006/relationships/notesSlide" Target="/ppt/notesSlides/notesSlide8.xml" Id="Rcee3c053796143c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270b63bfc84860" /><Relationship Type="http://schemas.openxmlformats.org/officeDocument/2006/relationships/notesSlide" Target="/ppt/notesSlides/notesSlide9.xml" Id="R87c3f5d504394c9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c6b8c1f8c84031" /><Relationship Type="http://schemas.openxmlformats.org/officeDocument/2006/relationships/notesSlide" Target="/ppt/notesSlides/notesSlide10.xml" Id="R49d8acdf227946d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2597a711f94144" /><Relationship Type="http://schemas.openxmlformats.org/officeDocument/2006/relationships/notesSlide" Target="/ppt/notesSlides/notesSlide11.xml" Id="R3563889188b54f6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ee474ecf704e24" /><Relationship Type="http://schemas.openxmlformats.org/officeDocument/2006/relationships/image" Target="/ppt/media/image.png" Id="R76c0837e7ef64a79" /><Relationship Type="http://schemas.openxmlformats.org/officeDocument/2006/relationships/notesSlide" Target="/ppt/notesSlides/notesSlide12.xml" Id="R3ebbf1aa193b482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2fa2e0c59a4dfb" /><Relationship Type="http://schemas.openxmlformats.org/officeDocument/2006/relationships/image" Target="/ppt/media/image.png" Id="R64e0e5845e9a4de8" /><Relationship Type="http://schemas.openxmlformats.org/officeDocument/2006/relationships/notesSlide" Target="/ppt/notesSlides/notesSlide13.xml" Id="Rff94360e9f9e46d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a325b6367742b4" /><Relationship Type="http://schemas.openxmlformats.org/officeDocument/2006/relationships/notesSlide" Target="/ppt/notesSlides/notesSlide14.xml" Id="R8d9cdced9ee5473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326fd226444d01" /><Relationship Type="http://schemas.openxmlformats.org/officeDocument/2006/relationships/notesSlide" Target="/ppt/notesSlides/notesSlide15.xml" Id="Rb0167aa0df214b1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2e1beef7474dd4" /><Relationship Type="http://schemas.openxmlformats.org/officeDocument/2006/relationships/image" Target="/ppt/media/image2.png" Id="R0c0725e84dde4644" /><Relationship Type="http://schemas.openxmlformats.org/officeDocument/2006/relationships/image" Target="/ppt/media/image3.png" Id="Rde5dc54bbf054dfb" /><Relationship Type="http://schemas.openxmlformats.org/officeDocument/2006/relationships/notesSlide" Target="/ppt/notesSlides/notesSlide16.xml" Id="Rafa3d98cce2e498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9059a8136240a2" /><Relationship Type="http://schemas.openxmlformats.org/officeDocument/2006/relationships/notesSlide" Target="/ppt/notesSlides/notesSlide17.xml" Id="R29aafdb8ad174cc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5380c29ad64db7" /><Relationship Type="http://schemas.openxmlformats.org/officeDocument/2006/relationships/image" Target="/ppt/media/image4.png" Id="R306bac6c3c5e4ca1" /><Relationship Type="http://schemas.openxmlformats.org/officeDocument/2006/relationships/notesSlide" Target="/ppt/notesSlides/notesSlide18.xml" Id="R7daf6f3967ea471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B1F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4519CCF-7FDE-441F-9154-9A613CEC9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554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GOAI 2026 世界人工智能开源大赛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B063C60-2A9A-4F4D-AAB4-E7474A4F2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65960"/>
            <a:ext cx="868680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2000"/>
              </a:lnSpc>
              <a:buNone/>
            </a:pPr>
            <a:r>
              <a:rPr sz="4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LabOps Guard</a:t>
            </a:r>
            <a:endParaRPr sz="4600"/>
          </a:p>
          <a:p xmlns:a="http://schemas.openxmlformats.org/drawingml/2006/main">
            <a:pPr marL="0" indent="0">
              <a:lnSpc>
                <a:spcPct val="102000"/>
              </a:lnSpc>
              <a:buNone/>
            </a:pPr>
            <a:r>
              <a:rPr sz="4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可信 Agent 执行与治理基座</a:t>
            </a:r>
            <a:endParaRPr sz="46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9CCC9D5-5F82-416A-B422-40CECB27F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17220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AEB6D6"/>
                </a:solidFill>
                <a:latin typeface="微软雅黑"/>
                <a:ea typeface="微软雅黑"/>
                <a:cs typeface="微软雅黑"/>
              </a:rPr>
              <a:t>　　　　　　　　AgentTeams · 复赛方案 · v1.0-rc1</a:t>
            </a:r>
            <a:endParaRPr sz="1100"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0D7630DE-4C8F-4706-AF33-3313C894E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26510"/>
            <a:ext cx="6096000" cy="3219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Trust Infrastructure for Production Agent Systems</a:t>
            </a:r>
            <a:endParaRPr sz="1500" b="1" kern="0" spc="200">
              <a:solidFill>
                <a:srgbClr val="FF6B3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Shape 0 contained">
            <a:extLst xmlns:a="http://schemas.openxmlformats.org/drawingml/2006/main">
              <a:ext uri="{FF2B5EF4-FFF2-40B4-BE49-F238E27FC236}">
                <a16:creationId xmlns:a16="http://schemas.microsoft.com/office/drawing/2014/main" id="{5E02FF2A-C001-49B7-9AF6-E47DE8EF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  <a:ln xmlns:a="http://schemas.openxmlformats.org/drawingml/2006/main" w="0">
            <a:solidFill>
              <a:srgbClr val="2A2F5B"/>
            </a:solidFill>
            <a:prstDash val="solid"/>
          </a:ln>
        </p:spPr>
      </p:sp>
      <p:sp>
        <p:nvSpPr>
          <p:cNvPr id="21" name="Shape 1 contained">
            <a:extLst xmlns:a="http://schemas.openxmlformats.org/drawingml/2006/main">
              <a:ext uri="{FF2B5EF4-FFF2-40B4-BE49-F238E27FC236}">
                <a16:creationId xmlns:a16="http://schemas.microsoft.com/office/drawing/2014/main" id="{5A320F3E-529E-4E77-AB04-7C83F75C4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953000"/>
            <a:ext cx="1524000" cy="152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  <a:ln xmlns:a="http://schemas.openxmlformats.org/drawingml/2006/main" w="0">
            <a:solidFill>
              <a:srgbClr val="2A2F5B"/>
            </a:solidFill>
            <a:prstDash val="solid"/>
          </a:ln>
        </p:spPr>
      </p:sp>
      <p:sp>
        <p:nvSpPr>
          <p:cNvPr id="22" name="Shape 2 contained">
            <a:extLst xmlns:a="http://schemas.openxmlformats.org/drawingml/2006/main">
              <a:ext uri="{FF2B5EF4-FFF2-40B4-BE49-F238E27FC236}">
                <a16:creationId xmlns:a16="http://schemas.microsoft.com/office/drawing/2014/main" id="{4F7E25E2-5EF3-4635-8839-0F4391D9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76875"/>
            <a:ext cx="1381125" cy="1381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  <a:ln xmlns:a="http://schemas.openxmlformats.org/drawingml/2006/main" w="0">
            <a:solidFill>
              <a:srgbClr val="2A2F5B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995325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8B58A02-1388-4AD5-942F-F555F7A6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复赛 · 信任问题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A527B30-EABE-4273-8E97-49738CC98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Agent 获得执行权后</a:t>
            </a:r>
            <a:endParaRPr sz="29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F399241-D630-4CD8-99FE-05D17071A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1B3707B-C11E-4632-BB54-2CA0F0A56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D24C80E-BB5A-4296-87CB-9183F0748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身份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690A0E7-77E7-415C-BC61-D10593D6E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谁在行动？</a:t>
            </a:r>
            <a:endParaRPr sz="1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CCB1007-F91C-4C57-90BF-0018046F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Identity</a:t>
            </a:r>
            <a:endParaRPr sz="10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ABAB656-6A19-477D-BE39-D8EC76CE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458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0DF84EA-5668-47CD-ABB7-1D163065B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F775768-535D-4EF1-8C98-999CBAAF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78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权限</a:t>
            </a:r>
            <a:endParaRPr sz="15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0991F39-040D-4B06-921F-0F37F087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它获准做什么？</a:t>
            </a:r>
            <a:endParaRPr sz="11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AECA882-208B-4163-8D65-EC274701D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Policy + Approval</a:t>
            </a:r>
            <a:endParaRPr sz="10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9604BC66-4A2D-4DBF-AF4F-847A78B82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557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265B4D5E-71FD-418B-AE83-542372FD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ACDA2E5-D97F-4E1F-9B13-E31081A62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477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执行</a:t>
            </a:r>
            <a:endParaRPr sz="1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6775CF1-2B51-4165-8904-9D89C0FD0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真实改了什么？</a:t>
            </a:r>
            <a:endParaRPr sz="11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B79DA22D-96B1-4A9A-8335-F807366E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Secure Runner</a:t>
            </a:r>
            <a:endParaRPr sz="10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A5B3B082-4F66-47D9-9B7A-ADE333077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CC1D3DD1-DDA4-4495-877F-990D852CA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96CB46D-B58A-4EE9-BEA6-58FE58590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证据</a:t>
            </a:r>
            <a:endParaRPr sz="15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BEAE2AC-D458-4EDA-9C70-DBBCD161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结果能否复核？</a:t>
            </a:r>
            <a:endParaRPr sz="11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07321EA-D803-4464-BB1E-82C040DB8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Trace + Bundle</a:t>
            </a:r>
            <a:endParaRPr sz="10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D470B119-0BF9-4FC3-8CC4-42B4842D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458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F0FBF911-92B3-4C62-A3E1-D544CF132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5A024AAE-E4D5-49A5-8EC9-751D0EA69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78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审计</a:t>
            </a:r>
            <a:endParaRPr sz="15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3DC3B3CD-3635-4514-A803-B264DCEA5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谁能判定成功？</a:t>
            </a:r>
            <a:endParaRPr sz="11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35DC10B-B8D6-447F-BA62-84876C6C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Independent Auditor</a:t>
            </a:r>
            <a:endParaRPr sz="105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8629CA80-278D-4977-9BF4-793249622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557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328EBD13-0FEB-499B-9FD2-A381C72EE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46D4C11D-EB06-4A08-A08A-F6A19F9D3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477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边界</a:t>
            </a:r>
            <a:endParaRPr sz="15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A575587F-4DE6-4AF4-AEB7-2E3CD657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失败能否阻断？</a:t>
            </a:r>
            <a:endParaRPr sz="11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222AC351-3C87-4987-86B8-4AB57BB35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BLOCKED / ROLLED_BACK</a:t>
            </a:r>
            <a:endParaRPr sz="105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28796978-B7CB-4EBE-B02B-27B861D4D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91525080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B18C52BD-C9B7-457E-8A85-B3B73F38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" y="27482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01 · 项目目标与范围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088435CA-9937-4DBC-B336-C92FC05A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" y="54914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把 Agent 行动变成可验证工程事件</a:t>
            </a:r>
            <a:endParaRPr sz="2900"/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C6FB380C-8D22-4CFA-8704-E06FEAFA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475" y="118935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LabOps Guard 约束 AI 工程执行，不承诺通用 Agent OS。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problem-kicker">
            <a:extLst xmlns:a="http://schemas.openxmlformats.org/drawingml/2006/main">
              <a:ext uri="{FF2B5EF4-FFF2-40B4-BE49-F238E27FC236}">
                <a16:creationId xmlns:a16="http://schemas.microsoft.com/office/drawing/2014/main" id="{82E72D84-EFD7-459A-92CF-45602409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3837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6862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当前目标</a:t>
            </a:r>
          </a:p>
        </p:txBody>
      </p:sp>
      <p:sp>
        <p:nvSpPr>
          <p:cNvPr id="7" name="problem-number">
            <a:extLst xmlns:a="http://schemas.openxmlformats.org/drawingml/2006/main">
              <a:ext uri="{FF2B5EF4-FFF2-40B4-BE49-F238E27FC236}">
                <a16:creationId xmlns:a16="http://schemas.microsoft.com/office/drawing/2014/main" id="{8F82BB0B-810A-492F-97D5-B05A74373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2890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3450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可信执行</a:t>
            </a:r>
          </a:p>
        </p:txBody>
      </p:sp>
      <p:sp>
        <p:nvSpPr>
          <p:cNvPr id="8" name="problem-copy">
            <a:extLst xmlns:a="http://schemas.openxmlformats.org/drawingml/2006/main">
              <a:ext uri="{FF2B5EF4-FFF2-40B4-BE49-F238E27FC236}">
                <a16:creationId xmlns:a16="http://schemas.microsoft.com/office/drawing/2014/main" id="{9CEC7EA6-21E3-4575-AD76-241FDBE7E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4330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身份、审批、Runner 与证据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由 Auditor 独立裁决</a:t>
            </a:r>
          </a:p>
        </p:txBody>
      </p:sp>
      <p:sp>
        <p:nvSpPr>
          <p:cNvPr id="9" name="value-kicker">
            <a:extLst xmlns:a="http://schemas.openxmlformats.org/drawingml/2006/main">
              <a:ext uri="{FF2B5EF4-FFF2-40B4-BE49-F238E27FC236}">
                <a16:creationId xmlns:a16="http://schemas.microsoft.com/office/drawing/2014/main" id="{0FC49EDD-D22F-4FEB-A6FD-1A45269E3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3837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6862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明确边界</a:t>
            </a:r>
          </a:p>
        </p:txBody>
      </p:sp>
      <p:sp>
        <p:nvSpPr>
          <p:cNvPr id="10" name="value-number">
            <a:extLst xmlns:a="http://schemas.openxmlformats.org/drawingml/2006/main">
              <a:ext uri="{FF2B5EF4-FFF2-40B4-BE49-F238E27FC236}">
                <a16:creationId xmlns:a16="http://schemas.microsoft.com/office/drawing/2014/main" id="{DA7AB6B2-774F-4981-A82A-46FFD8DA6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28900"/>
            <a:ext cx="476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4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单机 CPU</a:t>
            </a:r>
          </a:p>
        </p:txBody>
      </p:sp>
      <p:sp>
        <p:nvSpPr>
          <p:cNvPr id="11" name="value-copy">
            <a:extLst xmlns:a="http://schemas.openxmlformats.org/drawingml/2006/main">
              <a:ext uri="{FF2B5EF4-FFF2-40B4-BE49-F238E27FC236}">
                <a16:creationId xmlns:a16="http://schemas.microsoft.com/office/drawing/2014/main" id="{E2F1CAE4-2EE8-4D30-8E4C-4D9CBB4C8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4330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不含多租户调度、GPU、生产身份、MCP Server 或 RAG。</a:t>
            </a:r>
          </a:p>
        </p:txBody>
      </p:sp>
      <p:sp>
        <p:nvSpPr>
          <p:cNvPr id="12" name="value-foot">
            <a:extLst xmlns:a="http://schemas.openxmlformats.org/drawingml/2006/main">
              <a:ext uri="{FF2B5EF4-FFF2-40B4-BE49-F238E27FC236}">
                <a16:creationId xmlns:a16="http://schemas.microsoft.com/office/drawing/2014/main" id="{CDEFC619-C2AE-45BC-BCF0-E33C9CC5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219700"/>
            <a:ext cx="628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适用：模型研发 · 评测平台 · AI Infra · 算法治理</a:t>
            </a:r>
          </a:p>
        </p:txBody>
      </p:sp>
    </p:spTree>
    <p:extLst>
      <p:ext uri="{BB962C8B-B14F-4D97-AF65-F5344CB8AC3E}">
        <p14:creationId xmlns:p14="http://schemas.microsoft.com/office/powerpoint/2010/main" val="45429624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F664099-3C14-48C2-A659-F4A6E3818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02 · Agent Trust Layer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3A04622-409E-4F5D-854E-61D25BEA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五段证据链约束每一次 Agent 工程行动</a:t>
            </a:r>
            <a:endParaRPr sz="29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1664869E-4254-4AAA-9D05-EA73B50D2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10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17B3F63D-7ECD-41D2-910E-53FFB2DEC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Control Plane 保持逻辑架构；Dashboard 只读，不拆新服务。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15E18CD-BD3A-4969-B817-65267EE68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09900"/>
            <a:ext cx="6858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0B8825C-EBD4-4FAD-9618-6AAF6803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009900"/>
            <a:ext cx="6858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1" name="decision-plane">
            <a:extLst xmlns:a="http://schemas.openxmlformats.org/drawingml/2006/main">
              <a:ext uri="{FF2B5EF4-FFF2-40B4-BE49-F238E27FC236}">
                <a16:creationId xmlns:a16="http://schemas.microsoft.com/office/drawing/2014/main" id="{601E6B86-CD2B-4F4F-BCC3-6BC4E29A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381250"/>
            <a:ext cx="238125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编排层 · AgentTeams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Incident → Evidence → RCA → Plan</a:t>
            </a:r>
          </a:p>
        </p:txBody>
      </p:sp>
      <p:sp>
        <p:nvSpPr>
          <p:cNvPr id="42" name="approval-gate">
            <a:extLst xmlns:a="http://schemas.openxmlformats.org/drawingml/2006/main">
              <a:ext uri="{FF2B5EF4-FFF2-40B4-BE49-F238E27FC236}">
                <a16:creationId xmlns:a16="http://schemas.microsoft.com/office/drawing/2014/main" id="{43C0206A-BDF8-4E5C-84B1-608E03B86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381250"/>
            <a:ext cx="238125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信任层 · Contract + Policy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Identity · Skill · Approval</a:t>
            </a:r>
          </a:p>
        </p:txBody>
      </p:sp>
      <p:sp>
        <p:nvSpPr>
          <p:cNvPr id="43" name="execution-plane">
            <a:extLst xmlns:a="http://schemas.openxmlformats.org/drawingml/2006/main">
              <a:ext uri="{FF2B5EF4-FFF2-40B4-BE49-F238E27FC236}">
                <a16:creationId xmlns:a16="http://schemas.microsoft.com/office/drawing/2014/main" id="{F5304905-7151-4125-8A27-7B949752F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381250"/>
            <a:ext cx="26670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执行层 · Secure Runner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Tool Contract · allowlist · sandbox</a:t>
            </a:r>
          </a:p>
        </p:txBody>
      </p:sp>
      <p:sp>
        <p:nvSpPr>
          <p:cNvPr id="44" name="evidence-rail">
            <a:extLst xmlns:a="http://schemas.openxmlformats.org/drawingml/2006/main">
              <a:ext uri="{FF2B5EF4-FFF2-40B4-BE49-F238E27FC236}">
                <a16:creationId xmlns:a16="http://schemas.microsoft.com/office/drawing/2014/main" id="{829BE3FC-63FB-4E83-A4C9-1FF119196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57700"/>
            <a:ext cx="8953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Identity     Policy     Execution     Evidence     Audit</a:t>
            </a:r>
          </a:p>
        </p:txBody>
      </p:sp>
      <p:sp>
        <p:nvSpPr>
          <p:cNvPr id="45" name="closure-rule">
            <a:extLst xmlns:a="http://schemas.openxmlformats.org/drawingml/2006/main">
              <a:ext uri="{FF2B5EF4-FFF2-40B4-BE49-F238E27FC236}">
                <a16:creationId xmlns:a16="http://schemas.microsoft.com/office/drawing/2014/main" id="{2ACC1F24-1BA6-4B5C-9440-24D5C8B58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314950"/>
            <a:ext cx="800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Auditor 独占终态；每个域显示证据来源与限制，不生成综合评分。</a:t>
            </a:r>
          </a:p>
        </p:txBody>
      </p:sp>
    </p:spTree>
    <p:extLst>
      <p:ext uri="{BB962C8B-B14F-4D97-AF65-F5344CB8AC3E}">
        <p14:creationId xmlns:p14="http://schemas.microsoft.com/office/powerpoint/2010/main" val="11136805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78D8419-4AE5-4473-8ABF-07810AB7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03 · 六 Agent 职责隔离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DA41500-16E4-4250-9FF3-3BA0B516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每个角色只拥有完成本职工作所需的权限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94055390-0ECE-4650-A2C0-D1FABFA9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六个 Identity 共享状态与证据，但 Safe Executor 不能自证成功。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3B89671-1208-4EA0-9CC8-738385B46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DF01E63-DD76-450A-956F-7BDCAC8E8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9024DC9-449E-46FA-9F95-7915A254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747CE4A-2B37-4B00-8ECD-F51FCBBC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6DD54B7-67BF-4A2C-9781-DE5CC618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4" name="role-0">
            <a:extLst xmlns:a="http://schemas.openxmlformats.org/drawingml/2006/main">
              <a:ext uri="{FF2B5EF4-FFF2-40B4-BE49-F238E27FC236}">
                <a16:creationId xmlns:a16="http://schemas.microsoft.com/office/drawing/2014/main" id="{2CD5226F-6BC0-412C-8C10-DD77AFADC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01 Commander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编排 · 发布</a:t>
            </a:r>
          </a:p>
        </p:txBody>
      </p:sp>
      <p:sp>
        <p:nvSpPr>
          <p:cNvPr id="45" name="role-1">
            <a:extLst xmlns:a="http://schemas.openxmlformats.org/drawingml/2006/main">
              <a:ext uri="{FF2B5EF4-FFF2-40B4-BE49-F238E27FC236}">
                <a16:creationId xmlns:a16="http://schemas.microsoft.com/office/drawing/2014/main" id="{13064D5D-CEF3-4177-9A8B-3F6887350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02 Collector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白名单采证</a:t>
            </a:r>
          </a:p>
        </p:txBody>
      </p:sp>
      <p:sp>
        <p:nvSpPr>
          <p:cNvPr id="46" name="role-2">
            <a:extLst xmlns:a="http://schemas.openxmlformats.org/drawingml/2006/main">
              <a:ext uri="{FF2B5EF4-FFF2-40B4-BE49-F238E27FC236}">
                <a16:creationId xmlns:a16="http://schemas.microsoft.com/office/drawing/2014/main" id="{D9EDCFAE-DEDF-4BD6-BF8D-28807288D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03 RCA Analyst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证据约束假设</a:t>
            </a:r>
          </a:p>
        </p:txBody>
      </p:sp>
      <p:sp>
        <p:nvSpPr>
          <p:cNvPr id="47" name="role-3">
            <a:extLst xmlns:a="http://schemas.openxmlformats.org/drawingml/2006/main">
              <a:ext uri="{FF2B5EF4-FFF2-40B4-BE49-F238E27FC236}">
                <a16:creationId xmlns:a16="http://schemas.microsoft.com/office/drawing/2014/main" id="{1489CCE6-D631-45F7-B8F2-FBC501B63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04 Planner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单变量计划</a:t>
            </a:r>
          </a:p>
        </p:txBody>
      </p:sp>
      <p:sp>
        <p:nvSpPr>
          <p:cNvPr id="48" name="role-4">
            <a:extLst xmlns:a="http://schemas.openxmlformats.org/drawingml/2006/main">
              <a:ext uri="{FF2B5EF4-FFF2-40B4-BE49-F238E27FC236}">
                <a16:creationId xmlns:a16="http://schemas.microsoft.com/office/drawing/2014/main" id="{9345F1F7-68D9-4E3A-AE63-0ACB908B8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05 Executor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批准后执行</a:t>
            </a:r>
          </a:p>
        </p:txBody>
      </p:sp>
      <p:sp>
        <p:nvSpPr>
          <p:cNvPr id="49" name="role-5">
            <a:extLst xmlns:a="http://schemas.openxmlformats.org/drawingml/2006/main">
              <a:ext uri="{FF2B5EF4-FFF2-40B4-BE49-F238E27FC236}">
                <a16:creationId xmlns:a16="http://schemas.microsoft.com/office/drawing/2014/main" id="{9604E0B5-A3A3-43B1-A161-033B493F1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06 Auditor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独立裁决</a:t>
            </a:r>
          </a:p>
        </p:txBody>
      </p:sp>
      <p:sp>
        <p:nvSpPr>
          <p:cNvPr id="50" name="handoff-proof">
            <a:extLst xmlns:a="http://schemas.openxmlformats.org/drawingml/2006/main">
              <a:ext uri="{FF2B5EF4-FFF2-40B4-BE49-F238E27FC236}">
                <a16:creationId xmlns:a16="http://schemas.microsoft.com/office/drawing/2014/main" id="{B417C9F3-F249-42CA-AB5E-8ECEAB28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Commander → Collector → Analyst → Planner → Executor → Auditor</a:t>
            </a:r>
          </a:p>
        </p:txBody>
      </p:sp>
      <p:sp>
        <p:nvSpPr>
          <p:cNvPr id="51" name="failure-branch">
            <a:extLst xmlns:a="http://schemas.openxmlformats.org/drawingml/2006/main">
              <a:ext uri="{FF2B5EF4-FFF2-40B4-BE49-F238E27FC236}">
                <a16:creationId xmlns:a16="http://schemas.microsoft.com/office/drawing/2014/main" id="{3E41A857-B981-4C83-AF1E-93D5D9FA3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552950"/>
            <a:ext cx="38100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3F3"/>
          </a:solidFill>
          <a:ln xmlns:a="http://schemas.openxmlformats.org/drawingml/2006/main" w="9525">
            <a:solidFill>
              <a:srgbClr val="F0C3C3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人工审批不计作 Agent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审批事件单独留痕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批准必须早于执行</a:t>
            </a:r>
          </a:p>
        </p:txBody>
      </p:sp>
      <p:sp>
        <p:nvSpPr>
          <p:cNvPr id="52" name="closure-branch">
            <a:extLst xmlns:a="http://schemas.openxmlformats.org/drawingml/2006/main">
              <a:ext uri="{FF2B5EF4-FFF2-40B4-BE49-F238E27FC236}">
                <a16:creationId xmlns:a16="http://schemas.microsoft.com/office/drawing/2014/main" id="{0DCBB283-3AB3-4664-A4E6-8E7C2495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52950"/>
            <a:ext cx="38100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EEF9F4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只有 Auditor 可裁决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RESOLVED / ROLLED_BACK / BLOCKED</a:t>
            </a:r>
          </a:p>
        </p:txBody>
      </p:sp>
    </p:spTree>
    <p:extLst>
      <p:ext uri="{BB962C8B-B14F-4D97-AF65-F5344CB8AC3E}">
        <p14:creationId xmlns:p14="http://schemas.microsoft.com/office/powerpoint/2010/main" val="19669355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954F6F5-E940-4EAB-968D-6CAD50E26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03 · Identity 与 Skill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B9E4242-38E1-42A7-81AE-681621103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Identity 与 Skill Registry 统一校验</a:t>
            </a:r>
            <a:endParaRPr sz="29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5DB276A-F532-4505-B423-D2A6ECBD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88BA9B5-1EAE-4156-901D-BA9E715A9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v1</a:t>
            </a:r>
            <a:endParaRPr sz="15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D903EFBA-1EC9-4771-86E2-92145823E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Registry 提供发现与校验，不接管现有 Skill 执行。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BA6F765-235A-479C-84D3-B8BD5320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028950"/>
            <a:ext cx="3619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703C272-126D-44D8-BF39-3DC16FBAA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28950"/>
            <a:ext cx="3619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7B0CDF9-76F5-4AAE-B45F-41431BD9D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028950"/>
            <a:ext cx="3619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CDE07BD-0B55-48FD-B2E5-C11C74D8F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028950"/>
            <a:ext cx="3619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3" name="skill-0">
            <a:extLst xmlns:a="http://schemas.openxmlformats.org/drawingml/2006/main">
              <a:ext uri="{FF2B5EF4-FFF2-40B4-BE49-F238E27FC236}">
                <a16:creationId xmlns:a16="http://schemas.microsoft.com/office/drawing/2014/main" id="{C964DBD8-C07C-4BB2-BB87-DB6E54B34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13335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Identity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6 roles</a:t>
            </a:r>
          </a:p>
        </p:txBody>
      </p:sp>
      <p:sp>
        <p:nvSpPr>
          <p:cNvPr id="44" name="skill-1">
            <a:extLst xmlns:a="http://schemas.openxmlformats.org/drawingml/2006/main">
              <a:ext uri="{FF2B5EF4-FFF2-40B4-BE49-F238E27FC236}">
                <a16:creationId xmlns:a16="http://schemas.microsoft.com/office/drawing/2014/main" id="{359D708B-8CAF-46BF-8CEF-7E5226CBF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71750"/>
            <a:ext cx="13335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Owner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binding</a:t>
            </a:r>
          </a:p>
        </p:txBody>
      </p:sp>
      <p:sp>
        <p:nvSpPr>
          <p:cNvPr id="45" name="skill-2">
            <a:extLst xmlns:a="http://schemas.openxmlformats.org/drawingml/2006/main">
              <a:ext uri="{FF2B5EF4-FFF2-40B4-BE49-F238E27FC236}">
                <a16:creationId xmlns:a16="http://schemas.microsoft.com/office/drawing/2014/main" id="{EF23F681-CF83-4B32-9AB9-6D4E742E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571750"/>
            <a:ext cx="13335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I/O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Schema</a:t>
            </a:r>
          </a:p>
        </p:txBody>
      </p:sp>
      <p:sp>
        <p:nvSpPr>
          <p:cNvPr id="46" name="skill-3">
            <a:extLst xmlns:a="http://schemas.openxmlformats.org/drawingml/2006/main">
              <a:ext uri="{FF2B5EF4-FFF2-40B4-BE49-F238E27FC236}">
                <a16:creationId xmlns:a16="http://schemas.microsoft.com/office/drawing/2014/main" id="{080F0E7F-5048-4EDE-8656-E864012BB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71750"/>
            <a:ext cx="13335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Policy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class</a:t>
            </a:r>
          </a:p>
        </p:txBody>
      </p:sp>
      <p:sp>
        <p:nvSpPr>
          <p:cNvPr id="47" name="skill-4">
            <a:extLst xmlns:a="http://schemas.openxmlformats.org/drawingml/2006/main">
              <a:ext uri="{FF2B5EF4-FFF2-40B4-BE49-F238E27FC236}">
                <a16:creationId xmlns:a16="http://schemas.microsoft.com/office/drawing/2014/main" id="{E1FE28AF-57C2-4864-933C-4D7A98E45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571750"/>
            <a:ext cx="13335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Audit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events</a:t>
            </a:r>
          </a:p>
        </p:txBody>
      </p:sp>
      <p:sp>
        <p:nvSpPr>
          <p:cNvPr id="48" name="schema-rail">
            <a:extLst xmlns:a="http://schemas.openxmlformats.org/drawingml/2006/main">
              <a:ext uri="{FF2B5EF4-FFF2-40B4-BE49-F238E27FC236}">
                <a16:creationId xmlns:a16="http://schemas.microsoft.com/office/drawing/2014/main" id="{81CA4F4B-2A94-47EB-9B10-C42FB2B7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000500"/>
            <a:ext cx="838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skill_id · version · owner_agents · tool_dependencies · failure_states</a:t>
            </a:r>
          </a:p>
        </p:txBody>
      </p:sp>
      <p:sp>
        <p:nvSpPr>
          <p:cNvPr id="49" name="pack-memory">
            <a:extLst xmlns:a="http://schemas.openxmlformats.org/drawingml/2006/main">
              <a:ext uri="{FF2B5EF4-FFF2-40B4-BE49-F238E27FC236}">
                <a16:creationId xmlns:a16="http://schemas.microsoft.com/office/drawing/2014/main" id="{2D348C02-BC1F-411E-8E61-87B67E56F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810125"/>
            <a:ext cx="60960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未授权 Agent 或 Registry 损坏时 fail closed；不新增 Agent 或 Skill。</a:t>
            </a:r>
          </a:p>
        </p:txBody>
      </p:sp>
    </p:spTree>
    <p:extLst>
      <p:ext uri="{BB962C8B-B14F-4D97-AF65-F5344CB8AC3E}">
        <p14:creationId xmlns:p14="http://schemas.microsoft.com/office/powerpoint/2010/main" val="87240189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78D8419-4AE5-4473-8ABF-07810AB7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04 · Trust State Machine v1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DA41500-16E4-4250-9FF3-3BA0B516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审批必须先于执行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94055390-0ECE-4650-A2C0-D1FABFA9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只有结构化产物可迁移状态；自然语言和 Dashboard 回放不是执行证据。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3B89671-1208-4EA0-9CC8-738385B46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DF01E63-DD76-450A-956F-7BDCAC8E8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9024DC9-449E-46FA-9F95-7915A254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747CE4A-2B37-4B00-8ECD-F51FCBBC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6DD54B7-67BF-4A2C-9781-DE5CC618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4" name="role-0">
            <a:extLst xmlns:a="http://schemas.openxmlformats.org/drawingml/2006/main">
              <a:ext uri="{FF2B5EF4-FFF2-40B4-BE49-F238E27FC236}">
                <a16:creationId xmlns:a16="http://schemas.microsoft.com/office/drawing/2014/main" id="{2CD5226F-6BC0-412C-8C10-DD77AFADC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PLAN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READY</a:t>
            </a:r>
          </a:p>
        </p:txBody>
      </p:sp>
      <p:sp>
        <p:nvSpPr>
          <p:cNvPr id="45" name="role-1">
            <a:extLst xmlns:a="http://schemas.openxmlformats.org/drawingml/2006/main">
              <a:ext uri="{FF2B5EF4-FFF2-40B4-BE49-F238E27FC236}">
                <a16:creationId xmlns:a16="http://schemas.microsoft.com/office/drawing/2014/main" id="{13064D5D-CEF3-4177-9A8B-3F6887350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POLICY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CHECKING</a:t>
            </a:r>
          </a:p>
        </p:txBody>
      </p:sp>
      <p:sp>
        <p:nvSpPr>
          <p:cNvPr id="46" name="role-2">
            <a:extLst xmlns:a="http://schemas.openxmlformats.org/drawingml/2006/main">
              <a:ext uri="{FF2B5EF4-FFF2-40B4-BE49-F238E27FC236}">
                <a16:creationId xmlns:a16="http://schemas.microsoft.com/office/drawing/2014/main" id="{D9EDCFAE-DEDF-4BD6-BF8D-28807288D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APPROVAL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PENDING</a:t>
            </a:r>
          </a:p>
        </p:txBody>
      </p:sp>
      <p:sp>
        <p:nvSpPr>
          <p:cNvPr id="47" name="role-3">
            <a:extLst xmlns:a="http://schemas.openxmlformats.org/drawingml/2006/main">
              <a:ext uri="{FF2B5EF4-FFF2-40B4-BE49-F238E27FC236}">
                <a16:creationId xmlns:a16="http://schemas.microsoft.com/office/drawing/2014/main" id="{1489CCE6-D631-45F7-B8F2-FBC501B63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APPROVED</a:t>
            </a:r>
          </a:p>
        </p:txBody>
      </p:sp>
      <p:sp>
        <p:nvSpPr>
          <p:cNvPr id="48" name="role-4">
            <a:extLst xmlns:a="http://schemas.openxmlformats.org/drawingml/2006/main">
              <a:ext uri="{FF2B5EF4-FFF2-40B4-BE49-F238E27FC236}">
                <a16:creationId xmlns:a16="http://schemas.microsoft.com/office/drawing/2014/main" id="{9345F1F7-68D9-4E3A-AE63-0ACB908B8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EXECUTING</a:t>
            </a:r>
          </a:p>
        </p:txBody>
      </p:sp>
      <p:sp>
        <p:nvSpPr>
          <p:cNvPr id="49" name="role-5">
            <a:extLst xmlns:a="http://schemas.openxmlformats.org/drawingml/2006/main">
              <a:ext uri="{FF2B5EF4-FFF2-40B4-BE49-F238E27FC236}">
                <a16:creationId xmlns:a16="http://schemas.microsoft.com/office/drawing/2014/main" id="{9604E0B5-A3A3-43B1-A161-033B493F1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VERIFYING</a:t>
            </a:r>
          </a:p>
        </p:txBody>
      </p:sp>
      <p:sp>
        <p:nvSpPr>
          <p:cNvPr id="50" name="handoff-proof">
            <a:extLst xmlns:a="http://schemas.openxmlformats.org/drawingml/2006/main">
              <a:ext uri="{FF2B5EF4-FFF2-40B4-BE49-F238E27FC236}">
                <a16:creationId xmlns:a16="http://schemas.microsoft.com/office/drawing/2014/main" id="{B417C9F3-F249-42CA-AB5E-8ECEAB28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Trust State Machine v1</a:t>
            </a:r>
          </a:p>
        </p:txBody>
      </p:sp>
      <p:sp>
        <p:nvSpPr>
          <p:cNvPr id="51" name="failure-branch">
            <a:extLst xmlns:a="http://schemas.openxmlformats.org/drawingml/2006/main">
              <a:ext uri="{FF2B5EF4-FFF2-40B4-BE49-F238E27FC236}">
                <a16:creationId xmlns:a16="http://schemas.microsoft.com/office/drawing/2014/main" id="{3E41A857-B981-4C83-AF1E-93D5D9FA3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552950"/>
            <a:ext cx="38100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3F3"/>
          </a:solidFill>
          <a:ln xmlns:a="http://schemas.openxmlformats.org/drawingml/2006/main" w="9525">
            <a:solidFill>
              <a:srgbClr val="F0C3C3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拒绝 / 缺审批 / 晚审批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→ BLOCKED</a:t>
            </a:r>
          </a:p>
        </p:txBody>
      </p:sp>
      <p:sp>
        <p:nvSpPr>
          <p:cNvPr id="52" name="closure-branch">
            <a:extLst xmlns:a="http://schemas.openxmlformats.org/drawingml/2006/main">
              <a:ext uri="{FF2B5EF4-FFF2-40B4-BE49-F238E27FC236}">
                <a16:creationId xmlns:a16="http://schemas.microsoft.com/office/drawing/2014/main" id="{0DCBB283-3AB3-4664-A4E6-8E7C2495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52950"/>
            <a:ext cx="38100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EEF9F4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Auditor 裁决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→ RESOLVED / ROLLED_BACK / BLOCKED</a:t>
            </a:r>
          </a:p>
        </p:txBody>
      </p:sp>
    </p:spTree>
    <p:extLst>
      <p:ext uri="{BB962C8B-B14F-4D97-AF65-F5344CB8AC3E}">
        <p14:creationId xmlns:p14="http://schemas.microsoft.com/office/powerpoint/2010/main" val="196693550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05 · Tool Contract 与 Runner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计划与执行职责隔离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Executor 提交结构化 Tool Contract；Gateway 校验后启动一次性断网 CPU 容器。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职责隔离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8076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Safe Executor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Runner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plan + approval  →  Gateway allowlist  →  ephemeral container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tool_id · caller_agent_id · skill_id · run_id · idempotency_key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Gateway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固定 task / incident / image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command + path allowlist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只读输入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project / run 只读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output 与 tmp 可写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运行边界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CPU · non-root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network=none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审计输出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metrics / stdout / stderr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manifest / run_result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无凭据 · 无在线安装 · 不修改原始工作区</a:t>
            </a:r>
          </a:p>
        </p:txBody>
      </p:sp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05 · Independent Auditor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Executor 的成功声明不能关闭事故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Auditor 从原始产物独立重算后置条件、保护哈希、审批时序与 Trace。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职责分离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Executor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Auditor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produces artifacts                 decides terminal state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只有 verification-auditor 可以产生终态裁决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输入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plan / raw outputs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protected hashes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metric / manifest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approval timing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裁决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PASS / BLOCKED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POLICY_VIOLATION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禁止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编辑产物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复用 claimed score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902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Independent Auditor → RESOLVED / ROLLED_BACK / BLOCKED</a:t>
            </a:r>
          </a:p>
        </p:txBody>
      </p:sp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05 · Trace 与 Evidence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Trace 与 Evidence Bundle 形成可复核链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Matrix 记录事件顺序，Runner 与 MinIO 保存原始产物；Bundle 由 allowlist 封装。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权威载体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Trace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Bundle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hash-chained events                 immutable artifacts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Trace · Log · Metrics · Artifact · Approval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完整性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SHA-256 member set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CHAIN_OK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Evidence Bundle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manifest + sizes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allowlisted paths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共享状态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Matrix + MinIO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case memory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只读投影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Dashboard 重算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不改变状态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证据缺失或哈希不符 → BLOCKED</a:t>
            </a:r>
          </a:p>
        </p:txBody>
      </p:sp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8B58A02-1388-4AD5-942F-F555F7A6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06 · Trust Dashboard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A527B30-EABE-4273-8E97-49738CC98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五段证据链，只读展示</a:t>
            </a:r>
            <a:endParaRPr sz="29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F399241-D630-4CD8-99FE-05D17071A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1B3707B-C11E-4632-BB54-2CA0F0A56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D24C80E-BB5A-4296-87CB-9183F0748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Identity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690A0E7-77E7-415C-BC61-D10593D6E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6 roles</a:t>
            </a:r>
            <a:endParaRPr sz="1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CCB1007-F91C-4C57-90BF-0018046F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身份与权限边界</a:t>
            </a:r>
            <a:endParaRPr sz="10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ABAB656-6A19-477D-BE39-D8EC76CE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458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0DF84EA-5668-47CD-ABB7-1D163065B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F775768-535D-4EF1-8C98-999CBAAF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78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Policy</a:t>
            </a:r>
            <a:endParaRPr sz="15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0991F39-040D-4B06-921F-0F37F087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Approval timing</a:t>
            </a:r>
            <a:endParaRPr sz="11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AECA882-208B-4163-8D65-EC274701D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禁止动作不可降级</a:t>
            </a:r>
            <a:endParaRPr sz="10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9604BC66-4A2D-4DBF-AF4F-847A78B82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557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265B4D5E-71FD-418B-AE83-542372FD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ACDA2E5-D97F-4E1F-9B13-E31081A62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477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Execution</a:t>
            </a:r>
            <a:endParaRPr sz="1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6775CF1-2B51-4165-8904-9D89C0FD0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Sandbox Runner</a:t>
            </a:r>
            <a:endParaRPr sz="11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B79DA22D-96B1-4A9A-8335-F807366E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CPU · non-root · network=none</a:t>
            </a:r>
            <a:endParaRPr sz="10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A5B3B082-4F66-47D9-9B7A-ADE333077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CC1D3DD1-DDA4-4495-877F-990D852CA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96CB46D-B58A-4EE9-BEA6-58FE58590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Evidence</a:t>
            </a:r>
            <a:endParaRPr sz="15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BEAE2AC-D458-4EDA-9C70-DBBCD161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Trace + Bundle</a:t>
            </a:r>
            <a:endParaRPr sz="11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07321EA-D803-4464-BB1E-82C040DB8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状态、检查与证据引用</a:t>
            </a:r>
            <a:endParaRPr sz="10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D470B119-0BF9-4FC3-8CC4-42B4842D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458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F0FBF911-92B3-4C62-A3E1-D544CF132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5A024AAE-E4D5-49A5-8EC9-751D0EA69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78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Audit</a:t>
            </a:r>
            <a:endParaRPr sz="15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3DC3B3CD-3635-4514-A803-B264DCEA5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Auditor verdict</a:t>
            </a:r>
            <a:endParaRPr sz="11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35DC10B-B8D6-447F-BA62-84876C6C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独立终态裁决</a:t>
            </a:r>
            <a:endParaRPr sz="105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8629CA80-278D-4977-9BF4-793249622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557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328EBD13-0FEB-499B-9FD2-A381C72EE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46D4C11D-EB06-4A08-A08A-F6A19F9D3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477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Safety</a:t>
            </a:r>
            <a:endParaRPr sz="15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A575587F-4DE6-4AF4-AEB7-2E3CD657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Read-only</a:t>
            </a:r>
            <a:endParaRPr sz="11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222AC351-3C87-4987-86B8-4AB57BB35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无执行 · 无修改 · 无审批</a:t>
            </a:r>
            <a:endParaRPr sz="105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28796978-B7CB-4EBE-B02B-27B861D4D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11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9152508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07 · AT-004 事故与证据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指标回退后，先固定事实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固定 checkpoint、验证集、metric、模型和协议后，三次结果仍为 71.875%。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三次稳定回退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71.875%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10 条事实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baseline ×3 · spread 0     evidence items with hashes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候选假设前先排除随机波动与受保护资产变化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固定对象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checkpoint / data / metric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model / protocol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唯一近期变化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preprocessing profile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train_augmented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证据边界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6 组保护哈希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before == after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RCA 输入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10 evidence items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with SHA-256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Evidence first → RCA ranks preprocessing drift</a:t>
            </a:r>
          </a:p>
        </p:txBody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c0837e7ef64a79"/>
          <a:stretch xmlns:a="http://schemas.openxmlformats.org/drawingml/2006/main"/>
        </p:blipFill>
        <p:spPr>
          <a:xfrm xmlns:a="http://schemas.openxmlformats.org/drawingml/2006/main">
            <a:off x="10715625" y="1000125"/>
            <a:ext cx="904875" cy="904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07 · AT-004 合法修复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单变量沙箱修复通过独立验证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固定对象、人工审批、断网 Runner 与独立复算共同构成完成证明。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三次独立复算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71.88%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97.81%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baseline ×3 · spread 0     candidate ×3 · spread 0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精确值：71.875% × 3 → 97.8124976% × 3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审批与能力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APPROVED &lt; run start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host 8/8 · runner 10/10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保护边界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6 组文件哈希不变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only 1 sandbox field changed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受限执行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Runner 0.2.0 · CPU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non-root · network=none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独立审计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27 ZIP entries · 7 Trace entries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CHAIN_OK / ACCEPTED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Verification Auditor：PASS / RESOLVED</a:t>
            </a:r>
          </a:p>
        </p:txBody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e0e5845e9a4de8"/>
          <a:stretch xmlns:a="http://schemas.openxmlformats.org/drawingml/2006/main"/>
        </p:blipFill>
        <p:spPr>
          <a:xfrm xmlns:a="http://schemas.openxmlformats.org/drawingml/2006/main">
            <a:off x="10715625" y="1000125"/>
            <a:ext cx="904875" cy="904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07 · 危险分支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metric.py 越权修改被拒绝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策略与哈希检查识别受保护评测逻辑变化；结果不被接受。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治理结果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357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POLICY</a:t>
            </a:r>
          </a:p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VIOLATION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357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ROLLED</a:t>
            </a:r>
          </a:p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BACK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protected metric.py              original hash restored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恢复后 metric.py SHA-256 与原始值一致；终态仍不得 RESOLVED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Policy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protected resource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execution denied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执行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Runner 未接受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越权计划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Evidence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before == after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workspace unchanged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Audit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independent verdict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rollback verified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POLICY_VIOLATION / ROLLED_BACK</a:t>
            </a:r>
          </a:p>
        </p:txBody>
      </p:sp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08 · Trust Evaluation Suite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10 个治理案例检验四项信任控制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输入与 Oracle 分离；执行侧不读取期望终态。该 Suite 不衡量通用 Agent 推理。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Suite v1.0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100%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0%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policy / evidence / audit          false resolution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10 cases · 2 legal · 8 fail-closed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Policy violation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100% (2/2)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blocked before run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Evidence complete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100% (10/10)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classification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False resolution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0% (0/8)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non-resolved cases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Independent audit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100% (10/10)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accuracy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治理规则 PASS · 不生成综合 Trust Score</a:t>
            </a:r>
          </a:p>
        </p:txBody>
      </p:sp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B9515D8-879F-4E3D-A7C5-89CC0F9B3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09 · 开源与工程规范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FB408BC-1BE4-4547-9ACB-C98C08C53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源码可提交，Runner 镜像继续受许可证门禁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41288F90-79BA-4C9C-A15F-75B54B4FC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Apache-2.0、CI、SBOM、NOTICE 与证据校验分层公开。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open-now-label">
            <a:extLst xmlns:a="http://schemas.openxmlformats.org/drawingml/2006/main">
              <a:ext uri="{FF2B5EF4-FFF2-40B4-BE49-F238E27FC236}">
                <a16:creationId xmlns:a16="http://schemas.microsoft.com/office/drawing/2014/main" id="{BDB948B9-8336-4FC8-9D51-86FE7CB51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40" name="open-now">
            <a:extLst xmlns:a="http://schemas.openxmlformats.org/drawingml/2006/main">
              <a:ext uri="{FF2B5EF4-FFF2-40B4-BE49-F238E27FC236}">
                <a16:creationId xmlns:a16="http://schemas.microsoft.com/office/drawing/2014/main" id="{821AA509-153A-4A62-906B-4DC81166B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10668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Source / 7 Skills / Schema / 3 Evidence Bundles / CI / Public Demo</a:t>
            </a:r>
          </a:p>
        </p:txBody>
      </p:sp>
      <p:sp>
        <p:nvSpPr>
          <p:cNvPr id="41" name="gates-label">
            <a:extLst xmlns:a="http://schemas.openxmlformats.org/drawingml/2006/main">
              <a:ext uri="{FF2B5EF4-FFF2-40B4-BE49-F238E27FC236}">
                <a16:creationId xmlns:a16="http://schemas.microsoft.com/office/drawing/2014/main" id="{8DFA1DC7-615F-4BC2-BE4F-9A08E4FF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入口</a:t>
            </a:r>
          </a:p>
        </p:txBody>
      </p:sp>
      <p:sp>
        <p:nvSpPr>
          <p:cNvPr id="42" name="gates">
            <a:extLst xmlns:a="http://schemas.openxmlformats.org/drawingml/2006/main">
              <a:ext uri="{FF2B5EF4-FFF2-40B4-BE49-F238E27FC236}">
                <a16:creationId xmlns:a16="http://schemas.microsoft.com/office/drawing/2014/main" id="{6A6CA3CA-B9F6-4F80-95F9-5E3D70B6B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10668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jakiic.github.io/LabOps-Guard/     github.com/JAKIIC/LabOps-Guard</a:t>
            </a:r>
          </a:p>
        </p:txBody>
      </p:sp>
      <p:sp>
        <p:nvSpPr>
          <p:cNvPr id="43" name="future-label">
            <a:extLst xmlns:a="http://schemas.openxmlformats.org/drawingml/2006/main">
              <a:ext uri="{FF2B5EF4-FFF2-40B4-BE49-F238E27FC236}">
                <a16:creationId xmlns:a16="http://schemas.microsoft.com/office/drawing/2014/main" id="{C8D6E492-D9C1-40EC-A4E1-A6CC83054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发布门禁</a:t>
            </a:r>
          </a:p>
        </p:txBody>
      </p:sp>
      <p:sp>
        <p:nvSpPr>
          <p:cNvPr id="44" name="future">
            <a:extLst xmlns:a="http://schemas.openxmlformats.org/drawingml/2006/main">
              <a:ext uri="{FF2B5EF4-FFF2-40B4-BE49-F238E27FC236}">
                <a16:creationId xmlns:a16="http://schemas.microsoft.com/office/drawing/2014/main" id="{20FCB83D-14F9-48CB-BBC4-802B587AE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0"/>
            <a:ext cx="10668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127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基础镜像条款 / Debian 源码义务 / NOTICE / final digest</a:t>
            </a:r>
          </a:p>
          <a:p xmlns:a="http://schemas.openxmlformats.org/drawingml/2006/main">
            <a:pPr algn="ctr">
              <a:buNone/>
              <a:defRPr sz="15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未关闭前：不发镜像、不建 Tag / Release</a:t>
            </a:r>
          </a:p>
        </p:txBody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0725e84dde4644"/>
          <a:stretch xmlns:a="http://schemas.openxmlformats.org/drawingml/2006/main"/>
        </p:blipFill>
        <p:spPr>
          <a:xfrm xmlns:a="http://schemas.openxmlformats.org/drawingml/2006/main">
            <a:off x="9858375" y="790575"/>
            <a:ext cx="781050" cy="781050"/>
          </a:xfrm>
          <a:prstGeom xmlns:a="http://schemas.openxmlformats.org/drawingml/2006/main" prst="rect">
            <a:avLst/>
          </a:prstGeom>
        </p:spPr>
      </p:pic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5dc54bbf054dfb"/>
          <a:stretch xmlns:a="http://schemas.openxmlformats.org/drawingml/2006/main"/>
        </p:blipFill>
        <p:spPr>
          <a:xfrm xmlns:a="http://schemas.openxmlformats.org/drawingml/2006/main">
            <a:off x="10858500" y="790575"/>
            <a:ext cx="781050" cy="7810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277179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B18C52BD-C9B7-457E-8A85-B3B73F38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" y="27482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10 · 当前限制与路线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088435CA-9937-4DBC-B336-C92FC05A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" y="54914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当前是可信单机 Runtime，生产化边界清晰</a:t>
            </a:r>
            <a:endParaRPr sz="2900"/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C6FB380C-8D22-4CFA-8704-E06FEAFA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475" y="118935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优先守住已验证闭环，不堆叠与复赛无关的平台能力。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problem-kicker">
            <a:extLst xmlns:a="http://schemas.openxmlformats.org/drawingml/2006/main">
              <a:ext uri="{FF2B5EF4-FFF2-40B4-BE49-F238E27FC236}">
                <a16:creationId xmlns:a16="http://schemas.microsoft.com/office/drawing/2014/main" id="{82E72D84-EFD7-459A-92CF-45602409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3837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6862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当前能力</a:t>
            </a:r>
          </a:p>
        </p:txBody>
      </p:sp>
      <p:sp>
        <p:nvSpPr>
          <p:cNvPr id="7" name="problem-number">
            <a:extLst xmlns:a="http://schemas.openxmlformats.org/drawingml/2006/main">
              <a:ext uri="{FF2B5EF4-FFF2-40B4-BE49-F238E27FC236}">
                <a16:creationId xmlns:a16="http://schemas.microsoft.com/office/drawing/2014/main" id="{8F82BB0B-810A-492F-97D5-B05A74373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2890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3450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单机 CPU</a:t>
            </a:r>
          </a:p>
        </p:txBody>
      </p:sp>
      <p:sp>
        <p:nvSpPr>
          <p:cNvPr id="8" name="problem-copy">
            <a:extLst xmlns:a="http://schemas.openxmlformats.org/drawingml/2006/main">
              <a:ext uri="{FF2B5EF4-FFF2-40B4-BE49-F238E27FC236}">
                <a16:creationId xmlns:a16="http://schemas.microsoft.com/office/drawing/2014/main" id="{9CEC7EA6-21E3-4575-AD76-241FDBE7E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4330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策略身份、固定 allowlist、断网 Runner、Evidence-centric Observability</a:t>
            </a:r>
          </a:p>
        </p:txBody>
      </p:sp>
      <p:sp>
        <p:nvSpPr>
          <p:cNvPr id="9" name="value-kicker">
            <a:extLst xmlns:a="http://schemas.openxmlformats.org/drawingml/2006/main">
              <a:ext uri="{FF2B5EF4-FFF2-40B4-BE49-F238E27FC236}">
                <a16:creationId xmlns:a16="http://schemas.microsoft.com/office/drawing/2014/main" id="{0FC49EDD-D22F-4FEB-A6FD-1A45269E3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3837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6862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生产路线</a:t>
            </a:r>
          </a:p>
        </p:txBody>
      </p:sp>
      <p:sp>
        <p:nvSpPr>
          <p:cNvPr id="10" name="value-number">
            <a:extLst xmlns:a="http://schemas.openxmlformats.org/drawingml/2006/main">
              <a:ext uri="{FF2B5EF4-FFF2-40B4-BE49-F238E27FC236}">
                <a16:creationId xmlns:a16="http://schemas.microsoft.com/office/drawing/2014/main" id="{DA7AB6B2-774F-4981-A82A-46FFD8DA6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28900"/>
            <a:ext cx="476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4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身份 + 调度</a:t>
            </a:r>
          </a:p>
        </p:txBody>
      </p:sp>
      <p:sp>
        <p:nvSpPr>
          <p:cNvPr id="11" name="value-copy">
            <a:extLst xmlns:a="http://schemas.openxmlformats.org/drawingml/2006/main">
              <a:ext uri="{FF2B5EF4-FFF2-40B4-BE49-F238E27FC236}">
                <a16:creationId xmlns:a16="http://schemas.microsoft.com/office/drawing/2014/main" id="{E2F1CAE4-2EE8-4D30-8E4C-4D9CBB4C8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4330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OIDC / mTLS、队列、持久幂等、多租户与集中观测需独立实现。</a:t>
            </a:r>
          </a:p>
        </p:txBody>
      </p:sp>
      <p:sp>
        <p:nvSpPr>
          <p:cNvPr id="12" name="value-foot">
            <a:extLst xmlns:a="http://schemas.openxmlformats.org/drawingml/2006/main">
              <a:ext uri="{FF2B5EF4-FFF2-40B4-BE49-F238E27FC236}">
                <a16:creationId xmlns:a16="http://schemas.microsoft.com/office/drawing/2014/main" id="{CDEFC619-C2AE-45BC-BCF0-E33C9CC5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219700"/>
            <a:ext cx="628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不声称：MCP Server · OTel 后端 · RAG · GPU 调度 · 通用 Agent OS</a:t>
            </a:r>
          </a:p>
        </p:txBody>
      </p:sp>
    </p:spTree>
    <p:extLst>
      <p:ext uri="{BB962C8B-B14F-4D97-AF65-F5344CB8AC3E}">
        <p14:creationId xmlns:p14="http://schemas.microsoft.com/office/powerpoint/2010/main" val="45429624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F56F462-837E-4A2C-9B8B-B5CBAB57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11 · 总结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768E1CC-0218-401F-A6F8-E444CC127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让 Agent 的工程行动有资格被系统承认</a:t>
            </a:r>
            <a:endParaRPr sz="29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AF16AA40-8CA5-44FE-9A71-704B4B0CF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18</a:t>
            </a:r>
            <a:endParaRPr sz="10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71F3F9DC-D0B4-4BCB-AE9B-4A391535D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298575"/>
            <a:ext cx="801306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t>Trust Contract v1 · Trust State Machine v1 · v1.0-rc1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04CC9CC-2520-4ACD-8CD2-5632A5BB7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390900"/>
            <a:ext cx="523875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39AE421-A5B3-4361-825E-62EF8DA40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390900"/>
            <a:ext cx="523875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1" name="done-phase">
            <a:extLst xmlns:a="http://schemas.openxmlformats.org/drawingml/2006/main">
              <a:ext uri="{FF2B5EF4-FFF2-40B4-BE49-F238E27FC236}">
                <a16:creationId xmlns:a16="http://schemas.microsoft.com/office/drawing/2014/main" id="{F8150252-F88C-4A06-A96B-BCD1D2BB6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3000375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已验证闭环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6 Agents · 7 Skills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Secure Runner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Evidence Bundle</a:t>
            </a:r>
          </a:p>
        </p:txBody>
      </p:sp>
      <p:sp>
        <p:nvSpPr>
          <p:cNvPr id="42" name="gate-phase">
            <a:extLst xmlns:a="http://schemas.openxmlformats.org/drawingml/2006/main">
              <a:ext uri="{FF2B5EF4-FFF2-40B4-BE49-F238E27FC236}">
                <a16:creationId xmlns:a16="http://schemas.microsoft.com/office/drawing/2014/main" id="{FF33ECCB-8BEB-404F-B2FC-E457804CF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381250"/>
            <a:ext cx="32385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治理结果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AT-004 PASS / RESOLVED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metric 篡改 ROLLED_BACK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错误关闭率 0%</a:t>
            </a:r>
          </a:p>
        </p:txBody>
      </p:sp>
      <p:sp>
        <p:nvSpPr>
          <p:cNvPr id="43" name="next-phase">
            <a:extLst xmlns:a="http://schemas.openxmlformats.org/drawingml/2006/main">
              <a:ext uri="{FF2B5EF4-FFF2-40B4-BE49-F238E27FC236}">
                <a16:creationId xmlns:a16="http://schemas.microsoft.com/office/drawing/2014/main" id="{03DC9AE0-E3CA-48E4-8CA3-B912E3403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381250"/>
            <a:ext cx="3095625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清晰边界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Read-only Dashboard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source-only candidate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no Tag / Release</a:t>
            </a:r>
          </a:p>
        </p:txBody>
      </p:sp>
      <p:sp>
        <p:nvSpPr>
          <p:cNvPr id="44" name="risk-rule">
            <a:extLst xmlns:a="http://schemas.openxmlformats.org/drawingml/2006/main">
              <a:ext uri="{FF2B5EF4-FFF2-40B4-BE49-F238E27FC236}">
                <a16:creationId xmlns:a16="http://schemas.microsoft.com/office/drawing/2014/main" id="{2F64D684-0D9F-4ECC-9A59-03A35485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286375"/>
            <a:ext cx="876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GitHub: github.com/JAKIIC/LabOps-Guard</a:t>
            </a:r>
            <a:br/>
            <a:r>
              <a:rPr sz="157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Demo: jakiic.github.io/LabOps-Guard/</a:t>
            </a:r>
          </a:p>
        </p:txBody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6bac6c3c5e4ca1"/>
          <a:stretch xmlns:a="http://schemas.openxmlformats.org/drawingml/2006/main"/>
        </p:blipFill>
        <p:spPr>
          <a:xfrm xmlns:a="http://schemas.openxmlformats.org/drawingml/2006/main">
            <a:off x="10477500" y="714375"/>
            <a:ext cx="1000125" cy="1000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65537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2026-08-25T14:42:31.6790000Z</dcterms:created>
  <dcterms:modified xsi:type="dcterms:W3CDTF">2026-08-25T14:42:31.6790000Z</dcterms:modified>
</coreProperties>
</file>