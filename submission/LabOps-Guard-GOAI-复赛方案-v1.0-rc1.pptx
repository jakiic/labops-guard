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1de59f2759459d" /><Relationship Type="http://schemas.openxmlformats.org/officeDocument/2006/relationships/extended-properties" Target="/docProps/app.xml" Id="Rd1bf73b9e3644276" /><Relationship Type="http://schemas.openxmlformats.org/officeDocument/2006/relationships/officeDocument" Target="/ppt/presentation.xml" Id="R562af88cf7a9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9638d8ccc946e6"/>
    <p:sldMasterId xmlns:r="http://schemas.openxmlformats.org/officeDocument/2006/relationships" id="2147483650" r:id="R3d5098fb0be34d06"/>
  </p:sldMasterIdLst>
  <p:notesMasterIdLst>
    <p:notesMasterId xmlns:r="http://schemas.openxmlformats.org/officeDocument/2006/relationships" r:id="R1b4ec6001caf43f8"/>
  </p:notesMasterIdLst>
  <p:sldIdLst>
    <p:sldId xmlns:r="http://schemas.openxmlformats.org/officeDocument/2006/relationships" id="256" r:id="Rd4bcb63e2f9b4b2b"/>
    <p:sldId xmlns:r="http://schemas.openxmlformats.org/officeDocument/2006/relationships" id="257" r:id="Rd6cda0383d764169"/>
    <p:sldId xmlns:r="http://schemas.openxmlformats.org/officeDocument/2006/relationships" id="258" r:id="R7174ae3dad354244"/>
    <p:sldId xmlns:r="http://schemas.openxmlformats.org/officeDocument/2006/relationships" id="259" r:id="Rb1276729e7604e9b"/>
    <p:sldId xmlns:r="http://schemas.openxmlformats.org/officeDocument/2006/relationships" id="260" r:id="R0655d05ea01546ec"/>
    <p:sldId xmlns:r="http://schemas.openxmlformats.org/officeDocument/2006/relationships" id="261" r:id="R33741d50408a46d0"/>
    <p:sldId xmlns:r="http://schemas.openxmlformats.org/officeDocument/2006/relationships" id="262" r:id="R13ad0f242ff6440f"/>
    <p:sldId xmlns:r="http://schemas.openxmlformats.org/officeDocument/2006/relationships" id="263" r:id="R1a4a6ff024b04228"/>
    <p:sldId xmlns:r="http://schemas.openxmlformats.org/officeDocument/2006/relationships" id="264" r:id="Rc2dadc82dd0f4337"/>
    <p:sldId xmlns:r="http://schemas.openxmlformats.org/officeDocument/2006/relationships" id="265" r:id="R677b2b135dfa4d79"/>
    <p:sldId xmlns:r="http://schemas.openxmlformats.org/officeDocument/2006/relationships" id="266" r:id="R5c6ee593a3fa44f0"/>
    <p:sldId xmlns:r="http://schemas.openxmlformats.org/officeDocument/2006/relationships" id="267" r:id="Rc2a47a40a626474d"/>
    <p:sldId xmlns:r="http://schemas.openxmlformats.org/officeDocument/2006/relationships" id="268" r:id="R9a4fff4e0afa4781"/>
    <p:sldId xmlns:r="http://schemas.openxmlformats.org/officeDocument/2006/relationships" id="269" r:id="Rd8aaa84b04ec404a"/>
    <p:sldId xmlns:r="http://schemas.openxmlformats.org/officeDocument/2006/relationships" id="270" r:id="R04dda8f29f0742cf"/>
    <p:sldId xmlns:r="http://schemas.openxmlformats.org/officeDocument/2006/relationships" id="271" r:id="Rac386cb63a024bfa"/>
    <p:sldId xmlns:r="http://schemas.openxmlformats.org/officeDocument/2006/relationships" id="272" r:id="R36232e551bb84f07"/>
    <p:sldId xmlns:r="http://schemas.openxmlformats.org/officeDocument/2006/relationships" id="273" r:id="R173d992d9e7d41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4a474b9de64e3f" /><Relationship Type="http://schemas.openxmlformats.org/officeDocument/2006/relationships/slideMaster" Target="/ppt/slideMasters/slideMaster1.xml" Id="R359638d8ccc946e6" /><Relationship Type="http://schemas.openxmlformats.org/officeDocument/2006/relationships/slideMaster" Target="/ppt/slideMasters/slideMaster2.xml" Id="R3d5098fb0be34d06" /><Relationship Type="http://schemas.openxmlformats.org/officeDocument/2006/relationships/notesMaster" Target="/ppt/notesMasters/notesMaster1.xml" Id="R1b4ec6001caf43f8" /><Relationship Type="http://schemas.openxmlformats.org/officeDocument/2006/relationships/presProps" Target="/ppt/presProps.xml" Id="R5fd20b3e04ef459b" /><Relationship Type="http://schemas.openxmlformats.org/officeDocument/2006/relationships/viewProps" Target="/ppt/viewProps.xml" Id="Rae507bb3acc642b2" /><Relationship Type="http://schemas.openxmlformats.org/officeDocument/2006/relationships/tableStyles" Target="/ppt/tableStyles.xml" Id="Rb04d012c817446f4" /><Relationship Type="http://schemas.openxmlformats.org/officeDocument/2006/relationships/slide" Target="/ppt/slides/slide1.xml" Id="Rd4bcb63e2f9b4b2b" /><Relationship Type="http://schemas.openxmlformats.org/officeDocument/2006/relationships/slide" Target="/ppt/slides/slide2.xml" Id="Rd6cda0383d764169" /><Relationship Type="http://schemas.openxmlformats.org/officeDocument/2006/relationships/slide" Target="/ppt/slides/slide3.xml" Id="R7174ae3dad354244" /><Relationship Type="http://schemas.openxmlformats.org/officeDocument/2006/relationships/slide" Target="/ppt/slides/slide4.xml" Id="Rb1276729e7604e9b" /><Relationship Type="http://schemas.openxmlformats.org/officeDocument/2006/relationships/slide" Target="/ppt/slides/slide5.xml" Id="R0655d05ea01546ec" /><Relationship Type="http://schemas.openxmlformats.org/officeDocument/2006/relationships/slide" Target="/ppt/slides/slide6.xml" Id="R33741d50408a46d0" /><Relationship Type="http://schemas.openxmlformats.org/officeDocument/2006/relationships/slide" Target="/ppt/slides/slide7.xml" Id="R13ad0f242ff6440f" /><Relationship Type="http://schemas.openxmlformats.org/officeDocument/2006/relationships/slide" Target="/ppt/slides/slide8.xml" Id="R1a4a6ff024b04228" /><Relationship Type="http://schemas.openxmlformats.org/officeDocument/2006/relationships/slide" Target="/ppt/slides/slide9.xml" Id="Rc2dadc82dd0f4337" /><Relationship Type="http://schemas.openxmlformats.org/officeDocument/2006/relationships/slide" Target="/ppt/slides/slide10.xml" Id="R677b2b135dfa4d79" /><Relationship Type="http://schemas.openxmlformats.org/officeDocument/2006/relationships/slide" Target="/ppt/slides/slide11.xml" Id="R5c6ee593a3fa44f0" /><Relationship Type="http://schemas.openxmlformats.org/officeDocument/2006/relationships/slide" Target="/ppt/slides/slide12.xml" Id="Rc2a47a40a626474d" /><Relationship Type="http://schemas.openxmlformats.org/officeDocument/2006/relationships/slide" Target="/ppt/slides/slide13.xml" Id="R9a4fff4e0afa4781" /><Relationship Type="http://schemas.openxmlformats.org/officeDocument/2006/relationships/slide" Target="/ppt/slides/slide14.xml" Id="Rd8aaa84b04ec404a" /><Relationship Type="http://schemas.openxmlformats.org/officeDocument/2006/relationships/slide" Target="/ppt/slides/slide15.xml" Id="R04dda8f29f0742cf" /><Relationship Type="http://schemas.openxmlformats.org/officeDocument/2006/relationships/slide" Target="/ppt/slides/slide16.xml" Id="Rac386cb63a024bfa" /><Relationship Type="http://schemas.openxmlformats.org/officeDocument/2006/relationships/slide" Target="/ppt/slides/slide17.xml" Id="R36232e551bb84f07" /><Relationship Type="http://schemas.openxmlformats.org/officeDocument/2006/relationships/slide" Target="/ppt/slides/slide18.xml" Id="R173d992d9e7d41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81552ff73e2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388af6e2f9444f" /><Relationship Type="http://schemas.openxmlformats.org/officeDocument/2006/relationships/notesMaster" Target="/ppt/notesMasters/notesMaster1.xml" Id="Re27b5dee46ee41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4ea0c4e1a8479e" /><Relationship Type="http://schemas.openxmlformats.org/officeDocument/2006/relationships/notesMaster" Target="/ppt/notesMasters/notesMaster1.xml" Id="R101e498eaf8641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b93d62c8f64283" /><Relationship Type="http://schemas.openxmlformats.org/officeDocument/2006/relationships/notesMaster" Target="/ppt/notesMasters/notesMaster1.xml" Id="Rdc23d889fbb14d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2285efeca540b4" /><Relationship Type="http://schemas.openxmlformats.org/officeDocument/2006/relationships/notesMaster" Target="/ppt/notesMasters/notesMaster1.xml" Id="R3d8b58c088234a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f4be8018f749d9" /><Relationship Type="http://schemas.openxmlformats.org/officeDocument/2006/relationships/notesMaster" Target="/ppt/notesMasters/notesMaster1.xml" Id="R9b07838b9e9c45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748b707dd041ac" /><Relationship Type="http://schemas.openxmlformats.org/officeDocument/2006/relationships/notesMaster" Target="/ppt/notesMasters/notesMaster1.xml" Id="Ref71288d81ed48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7ad336f17640e1" /><Relationship Type="http://schemas.openxmlformats.org/officeDocument/2006/relationships/notesMaster" Target="/ppt/notesMasters/notesMaster1.xml" Id="R1082f524e2a04e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08f04e507243af" /><Relationship Type="http://schemas.openxmlformats.org/officeDocument/2006/relationships/notesMaster" Target="/ppt/notesMasters/notesMaster1.xml" Id="Ra031b491252245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b354eec92f4420" /><Relationship Type="http://schemas.openxmlformats.org/officeDocument/2006/relationships/notesMaster" Target="/ppt/notesMasters/notesMaster1.xml" Id="R2accbf2d1fe041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da2abcf7654d13" /><Relationship Type="http://schemas.openxmlformats.org/officeDocument/2006/relationships/notesMaster" Target="/ppt/notesMasters/notesMaster1.xml" Id="Rf34fe233d20449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f827fe26944ea5" /><Relationship Type="http://schemas.openxmlformats.org/officeDocument/2006/relationships/notesMaster" Target="/ppt/notesMasters/notesMaster1.xml" Id="Re9ba4d26389f40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61cadb4d224685" /><Relationship Type="http://schemas.openxmlformats.org/officeDocument/2006/relationships/notesMaster" Target="/ppt/notesMasters/notesMaster1.xml" Id="R5a9e5e6ee7a246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49056bdfeb43dd" /><Relationship Type="http://schemas.openxmlformats.org/officeDocument/2006/relationships/notesMaster" Target="/ppt/notesMasters/notesMaster1.xml" Id="Rf89a0a8786b946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072559d9c24108" /><Relationship Type="http://schemas.openxmlformats.org/officeDocument/2006/relationships/notesMaster" Target="/ppt/notesMasters/notesMaster1.xml" Id="R909c7b4c294c44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4c667305c04bf3" /><Relationship Type="http://schemas.openxmlformats.org/officeDocument/2006/relationships/notesMaster" Target="/ppt/notesMasters/notesMaster1.xml" Id="R663eee970d7f4d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cef9bd3ded4a4a" /><Relationship Type="http://schemas.openxmlformats.org/officeDocument/2006/relationships/notesMaster" Target="/ppt/notesMasters/notesMaster1.xml" Id="R8a9f638f2b3640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f2d6d55cd04165" /><Relationship Type="http://schemas.openxmlformats.org/officeDocument/2006/relationships/notesMaster" Target="/ppt/notesMasters/notesMaster1.xml" Id="Rfd816e55609640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b84e914ff84839" /><Relationship Type="http://schemas.openxmlformats.org/officeDocument/2006/relationships/notesMaster" Target="/ppt/notesMasters/notesMaster1.xml" Id="Rdc2df4c72af146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</a:t>
            </a:r>
            <a:endParaRPr/>
          </a:p>
          <a:p xmlns:a="http://schemas.openxmlformats.org/drawingml/2006/main">
            <a:r>
              <a:t>- CURRENT_STATE.md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docs/security-model.md</a:t>
            </a:r>
            <a:endParaRPr/>
          </a:p>
          <a:p xmlns:a="http://schemas.openxmlformats.org/drawingml/2006/main">
            <a:r>
              <a:t>- docs/competition-mapping.md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KNOWN_LIMITATIONS.md</a:t>
            </a:r>
          </a:p>
          <a:p xmlns:a="http://schemas.openxmlformats.org/drawingml/2006/main">
            <a:r>
              <a:t>- docs/competition-mapping.md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agentteams/trust_contract_v1.json</a:t>
            </a:r>
            <a:endParaRPr/>
          </a:p>
          <a:p xmlns:a="http://schemas.openxmlformats.org/drawingml/2006/main">
            <a:r>
              <a:t>- README.md</a:t>
            </a:r>
            <a:endParaRPr/>
          </a:p>
          <a:p xmlns:a="http://schemas.openxmlformats.org/drawingml/2006/main">
            <a:r>
              <a:t>- labops/web.py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agentteams/agent_identities_v2.json</a:t>
            </a:r>
            <a:endParaRPr/>
          </a:p>
          <a:p xmlns:a="http://schemas.openxmlformats.org/drawingml/2006/main">
            <a:r>
              <a:t>- docs/agent-identity-matrix.md</a:t>
            </a:r>
            <a:endParaRPr/>
          </a:p>
          <a:p xmlns:a="http://schemas.openxmlformats.org/drawingml/2006/main">
            <a:r>
              <a:t>- AT-004 agentteams_trace.jsonl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skills/registry.json</a:t>
            </a:r>
            <a:endParaRPr/>
          </a:p>
          <a:p xmlns:a="http://schemas.openxmlformats.org/drawingml/2006/main">
            <a:r>
              <a:t>- docs/skill-framework.md</a:t>
            </a:r>
            <a:endParaRPr/>
          </a:p>
          <a:p xmlns:a="http://schemas.openxmlformats.org/drawingml/2006/main">
            <a:r>
              <a:t>- seven skills/*/SKILL.md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docs/skill-framework.md</a:t>
            </a:r>
            <a:endParaRPr/>
          </a:p>
          <a:p xmlns:a="http://schemas.openxmlformats.org/drawingml/2006/main">
            <a:r>
              <a:t>- skills/control-lab-action/SKILL.md</a:t>
            </a:r>
            <a:endParaRPr/>
          </a:p>
          <a:p xmlns:a="http://schemas.openxmlformats.org/drawingml/2006/main">
            <a:r>
              <a:t>- skills/control-lab-action/references/io-schema.json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schemas/tool_contract.schema.json</a:t>
            </a:r>
            <a:endParaRPr/>
          </a:p>
          <a:p xmlns:a="http://schemas.openxmlformats.org/drawingml/2006/main">
            <a:r>
              <a:t>- labops/runner_gateway.py</a:t>
            </a:r>
            <a:endParaRPr/>
          </a:p>
          <a:p xmlns:a="http://schemas.openxmlformats.org/drawingml/2006/main">
            <a:r>
              <a:t>- runner/Dockerfile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docs/agent-identity-matrix.md</a:t>
            </a:r>
            <a:endParaRPr/>
          </a:p>
          <a:p xmlns:a="http://schemas.openxmlformats.org/drawingml/2006/main">
            <a:r>
              <a:t>- demo/output-agentteams-at004/verification.json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docs/observability.md</a:t>
            </a:r>
            <a:endParaRPr/>
          </a:p>
          <a:p xmlns:a="http://schemas.openxmlformats.org/drawingml/2006/main">
            <a:r>
              <a:t>- demo/output-agentteams-at004/LABOPS-AT-004-EVAL-DRIFT-evidence-bundle.zip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Real local screenshot of labops/dashboard.html and labops/web.py</a:t>
            </a:r>
            <a:endParaRPr/>
          </a:p>
          <a:p xmlns:a="http://schemas.openxmlformats.org/drawingml/2006/main">
            <a:r>
              <a:t>- AT-002 and AT-004 archived evidence</a:t>
            </a:r>
            <a:endParaRPr/>
          </a:p>
          <a:p xmlns:a="http://schemas.openxmlformats.org/drawingml/2006/main">
            <a:r>
              <a:t>- Dashboard is read-only; write methods return 405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docs/security-model.md</a:t>
            </a:r>
            <a:endParaRPr/>
          </a:p>
          <a:p xmlns:a="http://schemas.openxmlformats.org/drawingml/2006/main">
            <a:r>
              <a:t>- demo/output-agentteams-at002/rollback_result.json</a:t>
            </a:r>
            <a:endParaRPr/>
          </a:p>
          <a:p xmlns:a="http://schemas.openxmlformats.org/drawingml/2006/main">
            <a:r>
              <a:t>- AT-002 uses an isolated adversarial fixture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docs/LABOPS-AT-004-DEMO.md</a:t>
            </a:r>
            <a:endParaRPr/>
          </a:p>
          <a:p xmlns:a="http://schemas.openxmlformats.org/drawingml/2006/main">
            <a:r>
              <a:t>- demo/output-agentteams-at004/verification.json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agentteams_trace.jsonl inside the frozen AT-004 Evidence Bundle</a:t>
            </a:r>
            <a:endParaRPr/>
          </a:p>
          <a:p xmlns:a="http://schemas.openxmlformats.org/drawingml/2006/main">
            <a:r>
              <a:t>- Historical Trace proves role collaboration, not runtime skill_id telemetry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docs/trust-evaluation-report-v1.0.md</a:t>
            </a:r>
            <a:endParaRPr/>
          </a:p>
          <a:p xmlns:a="http://schemas.openxmlformats.org/drawingml/2006/main">
            <a:r>
              <a:t>- evaluation/results/trust-evaluation-suite-v1.json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Fresh Phase 9 Task 3 verification on 2026-08-26</a:t>
            </a:r>
            <a:endParaRPr/>
          </a:p>
          <a:p xmlns:a="http://schemas.openxmlformats.org/drawingml/2006/main">
            <a:r>
              <a:t>- .github/workflows/test.yml</a:t>
            </a:r>
            <a:endParaRPr/>
          </a:p>
          <a:p xmlns:a="http://schemas.openxmlformats.org/drawingml/2006/main">
            <a:r>
              <a:t>- .github/workflows/pages-public-demo.yml</a:t>
            </a:r>
            <a:endParaRPr/>
          </a:p>
          <a:p xmlns:a="http://schemas.openxmlformats.org/drawingml/2006/main">
            <a:r>
              <a:t>- scripts/verify_evidence.py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LICENSE</a:t>
            </a:r>
          </a:p>
          <a:p xmlns:a="http://schemas.openxmlformats.org/drawingml/2006/main">
            <a:r>
              <a:t>- NOTICE</a:t>
            </a:r>
          </a:p>
          <a:p xmlns:a="http://schemas.openxmlformats.org/drawingml/2006/main">
            <a:r>
              <a:t>- KNOWN_LIMITATIONS.md</a:t>
            </a:r>
          </a:p>
          <a:p xmlns:a="http://schemas.openxmlformats.org/drawingml/2006/main">
            <a:r>
              <a:t>- docs/compliance/runner-sbom.json</a:t>
            </a:r>
          </a:p>
          <a:p xmlns:a="http://schemas.openxmlformats.org/drawingml/2006/main">
            <a:r>
              <a:t>- docs/compliance/runner-license-review.md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</a:t>
            </a:r>
            <a:endParaRPr/>
          </a:p>
          <a:p xmlns:a="http://schemas.openxmlformats.org/drawingml/2006/main">
            <a:r>
              <a:t>- https://github.com/JAKIIC/LabOps-Guard</a:t>
            </a:r>
            <a:endParaRPr/>
          </a:p>
          <a:p xmlns:a="http://schemas.openxmlformats.org/drawingml/2006/main">
            <a:r>
              <a:t>- https://jakiic.github.io/LabOps-Guard/</a:t>
            </a:r>
            <a:endParaRPr/>
          </a:p>
          <a:p xmlns:a="http://schemas.openxmlformats.org/drawingml/2006/main">
            <a:r>
              <a:t>- Authentic QR assets retained from the source deck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2bc8910a445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e7a13b4fab463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39a6d9ed424f03" /><Relationship Type="http://schemas.openxmlformats.org/officeDocument/2006/relationships/slideLayout" Target="/ppt/slideLayouts/slideLayout1.xml" Id="R522fb3dfc567408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2c2a2ed701045e6" /><Relationship Type="http://schemas.openxmlformats.org/officeDocument/2006/relationships/slideLayout" Target="/ppt/slideLayouts/slideLayout2.xml" Id="R1bc643f8df824f8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fb3dfc567408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bc643f8df824f8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74a79335841c1" /><Relationship Type="http://schemas.openxmlformats.org/officeDocument/2006/relationships/notesSlide" Target="/ppt/notesSlides/notesSlide1.xml" Id="R08ad316b949841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0cfa2831d4746" /><Relationship Type="http://schemas.openxmlformats.org/officeDocument/2006/relationships/notesSlide" Target="/ppt/notesSlides/notesSlide2.xml" Id="Rc62cb0a2149249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0cb108efd47ad" /><Relationship Type="http://schemas.openxmlformats.org/officeDocument/2006/relationships/notesSlide" Target="/ppt/notesSlides/notesSlide3.xml" Id="R594bfbc61cf240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a465742954999" /><Relationship Type="http://schemas.openxmlformats.org/officeDocument/2006/relationships/notesSlide" Target="/ppt/notesSlides/notesSlide4.xml" Id="R576c4722cae643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44eded08e4308" /><Relationship Type="http://schemas.openxmlformats.org/officeDocument/2006/relationships/notesSlide" Target="/ppt/notesSlides/notesSlide5.xml" Id="R87112804570a4f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b9d1a8f0d41b2" /><Relationship Type="http://schemas.openxmlformats.org/officeDocument/2006/relationships/notesSlide" Target="/ppt/notesSlides/notesSlide6.xml" Id="R100b32109fd442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840d202994c5d" /><Relationship Type="http://schemas.openxmlformats.org/officeDocument/2006/relationships/notesSlide" Target="/ppt/notesSlides/notesSlide7.xml" Id="Rf897252dee194d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e334e4a544fef" /><Relationship Type="http://schemas.openxmlformats.org/officeDocument/2006/relationships/notesSlide" Target="/ppt/notesSlides/notesSlide8.xml" Id="R8588d060a1f34a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7d66b07374033" /><Relationship Type="http://schemas.openxmlformats.org/officeDocument/2006/relationships/notesSlide" Target="/ppt/notesSlides/notesSlide9.xml" Id="R3340ee68ad434f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588bb595940e0" /><Relationship Type="http://schemas.openxmlformats.org/officeDocument/2006/relationships/notesSlide" Target="/ppt/notesSlides/notesSlide10.xml" Id="R2cc349b971104e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7c4edbca34eab" /><Relationship Type="http://schemas.openxmlformats.org/officeDocument/2006/relationships/image" Target="/ppt/media/image.jpeg" Id="Re764040ebaee470b" /><Relationship Type="http://schemas.openxmlformats.org/officeDocument/2006/relationships/notesSlide" Target="/ppt/notesSlides/notesSlide11.xml" Id="Rb2cb286cea5245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96fa8c10748e2" /><Relationship Type="http://schemas.openxmlformats.org/officeDocument/2006/relationships/notesSlide" Target="/ppt/notesSlides/notesSlide12.xml" Id="R171371076d9043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8e670fe3642f1" /><Relationship Type="http://schemas.openxmlformats.org/officeDocument/2006/relationships/image" Target="/ppt/media/image.png" Id="Rd52801de8792487f" /><Relationship Type="http://schemas.openxmlformats.org/officeDocument/2006/relationships/notesSlide" Target="/ppt/notesSlides/notesSlide13.xml" Id="R7eea23cce2a647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2c31d24bd4024" /><Relationship Type="http://schemas.openxmlformats.org/officeDocument/2006/relationships/notesSlide" Target="/ppt/notesSlides/notesSlide14.xml" Id="R0f2fbd14b50e49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7cf41a2154c06" /><Relationship Type="http://schemas.openxmlformats.org/officeDocument/2006/relationships/notesSlide" Target="/ppt/notesSlides/notesSlide15.xml" Id="R228495ce45fc49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e722f5a4247e5" /><Relationship Type="http://schemas.openxmlformats.org/officeDocument/2006/relationships/notesSlide" Target="/ppt/notesSlides/notesSlide16.xml" Id="R904df288424a4c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99affb47545ce" /><Relationship Type="http://schemas.openxmlformats.org/officeDocument/2006/relationships/notesSlide" Target="/ppt/notesSlides/notesSlide17.xml" Id="R6e78859ff52941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e8f9703e347dd" /><Relationship Type="http://schemas.openxmlformats.org/officeDocument/2006/relationships/image" Target="/ppt/media/image2.png" Id="Rb4ee4809d2b4484a" /><Relationship Type="http://schemas.openxmlformats.org/officeDocument/2006/relationships/image" Target="/ppt/media/image3.png" Id="R6619fc11809b469b" /><Relationship Type="http://schemas.openxmlformats.org/officeDocument/2006/relationships/notesSlide" Target="/ppt/notesSlides/notesSlide18.xml" Id="Ra01af1c537d04c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19CCF-7FDE-441F-9154-9A613CEC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2026 世界人工智能开源大赛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063C60-2A9A-4F4D-AAB4-E7474A4F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LabOps-Guard</a:t>
            </a:r>
            <a:endParaRPr sz="4600"/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可信 Agent 执行与治理基础设施</a:t>
            </a:r>
            <a:endParaRPr sz="4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CCC9D5-5F82-416A-B422-40CECB2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　　　　　　　　AgentTeams · 复赛方案 · v1.0-rc1</a:t>
            </a:r>
            <a:endParaRPr sz="11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D7630DE-4C8F-4706-AF33-3313C89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Trust Infrastructure for Production Agent Systems</a:t>
            </a:r>
            <a:endParaRPr sz="1500" b="1" kern="0" spc="200">
              <a:solidFill>
                <a:srgbClr val="FF6B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hape 0 contained">
            <a:extLst xmlns:a="http://schemas.openxmlformats.org/drawingml/2006/main">
              <a:ext uri="{FF2B5EF4-FFF2-40B4-BE49-F238E27FC236}">
                <a16:creationId xmlns:a16="http://schemas.microsoft.com/office/drawing/2014/main" id="{5E02FF2A-C001-49B7-9AF6-E47DE8EF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1" name="Shape 1 contained">
            <a:extLst xmlns:a="http://schemas.openxmlformats.org/drawingml/2006/main">
              <a:ext uri="{FF2B5EF4-FFF2-40B4-BE49-F238E27FC236}">
                <a16:creationId xmlns:a16="http://schemas.microsoft.com/office/drawing/2014/main" id="{5A320F3E-529E-4E77-AB04-7C83F75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2" name="Shape 2 contained">
            <a:extLst xmlns:a="http://schemas.openxmlformats.org/drawingml/2006/main">
              <a:ext uri="{FF2B5EF4-FFF2-40B4-BE49-F238E27FC236}">
                <a16:creationId xmlns:a16="http://schemas.microsoft.com/office/drawing/2014/main" id="{4F7E25E2-5EF3-4635-8839-0F4391D9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68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9532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B58A02-1388-4AD5-942F-F555F7A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复赛 · Trust Gap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527B30-EABE-4273-8E97-49738CC9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 获得真实执行权限后，谁来证明它值得信任？</a:t>
            </a:r>
            <a:endParaRPr sz="2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399241-D630-4CD8-99FE-05D1707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B3707B-C11E-4632-BB54-2CA0F0A5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D24C80E-BB5A-4296-87CB-9183F074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身份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90A0E7-77E7-415C-BC61-D10593D6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谁在行动？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CB1007-F91C-4C57-90BF-0018046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Identity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ABAB656-6A19-477D-BE39-D8EC76CE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0DF84EA-5668-47CD-ABB7-1D16306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775768-535D-4EF1-8C98-999CBAAF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权限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991F39-040D-4B06-921F-0F37F087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它获准做什么？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ECA882-208B-4163-8D65-EC27470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Policy + Approval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04BC66-4A2D-4DBF-AF4F-847A78B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5B4D5E-71FD-418B-AE83-542372FD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CDA2E5-D97F-4E1F-9B13-E31081A6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执行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6775CF1-2B51-4165-8904-9D89C0F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真实改了什么？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9DA22D-96B1-4A9A-8335-F807366E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Secure Runner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B3B082-4F66-47D9-9B7A-ADE33307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C1D3DD1-DDA4-4495-877F-990D852C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96CB46D-B58A-4EE9-BEA6-58FE585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E2AC-D458-4EDA-9C70-DBBCD16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结果能否复核？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07321EA-D803-4464-BB1E-82C040DB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Trace + Bundle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470B119-0BF9-4FC3-8CC4-42B4842D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0FBF911-92B3-4C62-A3E1-D544CF1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024AAE-E4D5-49A5-8EC9-751D0EA6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审计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C3B3CD-3635-4514-A803-B264DCE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谁能判定成功？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35DC10B-B8D6-447F-BA62-84876C6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Independent Auditor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629CA80-278D-4977-9BF4-7932496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28EBD13-0FEB-499B-9FD2-A381C72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6D4C11D-EB06-4A08-A08A-F6A19F9D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575587F-4DE6-4AF4-AEB7-2E3CD657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失败能否阻断？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22AC351-3C87-4987-86B8-4AB57BB3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BLOCKED / ROLLED_BACK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8796978-B7CB-4EBE-B02B-27B861D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152508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8C52BD-C9B7-457E-8A85-B3B73F3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01 · 场景价值与复制性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88435CA-9937-4DBC-B336-C92FC05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AI Engineering：首个验证场景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6FB380C-8D22-4CFA-8704-E06FEAF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验证场景不等于项目定义；Trust Contract 与执行治理链可迁移。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82E72D84-EFD7-459A-92CF-4560240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验证场景</a:t>
            </a:r>
          </a:p>
        </p:txBody>
      </p:sp>
      <p:sp>
        <p:nvSpPr>
          <p:cNvPr id="7" name="problem-number">
            <a:extLst xmlns:a="http://schemas.openxmlformats.org/drawingml/2006/main">
              <a:ext uri="{FF2B5EF4-FFF2-40B4-BE49-F238E27FC236}">
                <a16:creationId xmlns:a16="http://schemas.microsoft.com/office/drawing/2014/main" id="{8F82BB0B-810A-492F-97D5-B05A743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AI Engineering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CEC7EA6-21E3-4575-AD76-241FDBE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事故触发、采证、分析、计划、受控执行与独立验证形成可复核闭环。</a:t>
            </a:r>
          </a:p>
        </p:txBody>
      </p:sp>
      <p:sp>
        <p:nvSpPr>
          <p:cNvPr id="9" name="value-kicker">
            <a:extLst xmlns:a="http://schemas.openxmlformats.org/drawingml/2006/main">
              <a:ext uri="{FF2B5EF4-FFF2-40B4-BE49-F238E27FC236}">
                <a16:creationId xmlns:a16="http://schemas.microsoft.com/office/drawing/2014/main" id="{0FC49EDD-D22F-4FEB-A6FD-1A45269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架构复用</a:t>
            </a:r>
          </a:p>
        </p:txBody>
      </p:sp>
      <p:sp>
        <p:nvSpPr>
          <p:cNvPr id="10" name="value-number">
            <a:extLst xmlns:a="http://schemas.openxmlformats.org/drawingml/2006/main">
              <a:ext uri="{FF2B5EF4-FFF2-40B4-BE49-F238E27FC236}">
                <a16:creationId xmlns:a16="http://schemas.microsoft.com/office/drawing/2014/main" id="{DA7AB6B2-774F-4981-A82A-46FFD8D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4 类 Agent</a:t>
            </a:r>
          </a:p>
        </p:txBody>
      </p:sp>
      <p:sp>
        <p:nvSpPr>
          <p:cNvPr id="11" name="value-copy">
            <a:extLst xmlns:a="http://schemas.openxmlformats.org/drawingml/2006/main">
              <a:ext uri="{FF2B5EF4-FFF2-40B4-BE49-F238E27FC236}">
                <a16:creationId xmlns:a16="http://schemas.microsoft.com/office/drawing/2014/main" id="{E2F1CAE4-2EE8-4D30-8E4C-4D9CBB4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可迁移到 Coding、Data、Research、Deployment Agent；本版本不宣称已全部实现。</a:t>
            </a:r>
          </a:p>
        </p:txBody>
      </p:sp>
      <p:sp>
        <p:nvSpPr>
          <p:cNvPr id="12" name="value-foot">
            <a:extLst xmlns:a="http://schemas.openxmlformats.org/drawingml/2006/main">
              <a:ext uri="{FF2B5EF4-FFF2-40B4-BE49-F238E27FC236}">
                <a16:creationId xmlns:a16="http://schemas.microsoft.com/office/drawing/2014/main" id="{CDEFC619-C2AE-45BC-BCF0-E33C9CC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首个验证场景 ≠ 项目定义 · 可复用的是 Trust Contract 与执行治理链</a:t>
            </a:r>
          </a:p>
        </p:txBody>
      </p:sp>
    </p:spTree>
    <p:extLst>
      <p:ext uri="{BB962C8B-B14F-4D97-AF65-F5344CB8AC3E}">
        <p14:creationId xmlns:p14="http://schemas.microsoft.com/office/powerpoint/2010/main" val="454296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664099-3C14-48C2-A659-F4A6E38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02 · Agent Trust Layer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A04622-409E-4F5D-854E-61D25BEA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把 Agent 行动变成可验证工程事件</a:t>
            </a:r>
            <a:endParaRPr sz="2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64869E-4254-4AAA-9D05-EA73B50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7B3F63D-7ECD-41D2-910E-53FFB2DE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Agent Application → Trust Layer → Secure Runtime → Engineering Environment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5E18CD-BD3A-4969-B817-65267EE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B8825C-EBD4-4FAD-9618-6AAF6803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ecision-plane">
            <a:extLst xmlns:a="http://schemas.openxmlformats.org/drawingml/2006/main">
              <a:ext uri="{FF2B5EF4-FFF2-40B4-BE49-F238E27FC236}">
                <a16:creationId xmlns:a16="http://schemas.microsoft.com/office/drawing/2014/main" id="{601E6B86-CD2B-4F4F-BCC3-6BC4E29A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编排层 · AgentTeams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 → Evidence → RCA → Plan</a:t>
            </a:r>
          </a:p>
        </p:txBody>
      </p:sp>
      <p:sp>
        <p:nvSpPr>
          <p:cNvPr id="42" name="approval-gate">
            <a:extLst xmlns:a="http://schemas.openxmlformats.org/drawingml/2006/main">
              <a:ext uri="{FF2B5EF4-FFF2-40B4-BE49-F238E27FC236}">
                <a16:creationId xmlns:a16="http://schemas.microsoft.com/office/drawing/2014/main" id="{43C0206A-BDF8-4E5C-84B1-608E03B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信任层 · Trust Contract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Identity · Skill · Policy · Approval</a:t>
            </a:r>
          </a:p>
        </p:txBody>
      </p:sp>
      <p:sp>
        <p:nvSpPr>
          <p:cNvPr id="43" name="execution-plane">
            <a:extLst xmlns:a="http://schemas.openxmlformats.org/drawingml/2006/main">
              <a:ext uri="{FF2B5EF4-FFF2-40B4-BE49-F238E27FC236}">
                <a16:creationId xmlns:a16="http://schemas.microsoft.com/office/drawing/2014/main" id="{F5304905-7151-4125-8A27-7B94975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执行层 · Secure Runtime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Execution · Evidence · Audit</a:t>
            </a:r>
          </a:p>
        </p:txBody>
      </p:sp>
      <p:sp>
        <p:nvSpPr>
          <p:cNvPr id="44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829BE3FC-63FB-4E83-A4C9-1FF11919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Identity     Skill     Policy     Approval     Execution     Evidence     Audit</a:t>
            </a:r>
          </a:p>
        </p:txBody>
      </p:sp>
      <p:sp>
        <p:nvSpPr>
          <p:cNvPr id="45" name="closure-rule">
            <a:extLst xmlns:a="http://schemas.openxmlformats.org/drawingml/2006/main">
              <a:ext uri="{FF2B5EF4-FFF2-40B4-BE49-F238E27FC236}">
                <a16:creationId xmlns:a16="http://schemas.microsoft.com/office/drawing/2014/main" id="{2ACC1F24-1BA6-4B5C-9440-24D5C8B5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149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Control Plane 保持逻辑架构；Dashboard 只读，不生成综合评分。</a:t>
            </a:r>
          </a:p>
        </p:txBody>
      </p:sp>
    </p:spTree>
    <p:extLst>
      <p:ext uri="{BB962C8B-B14F-4D97-AF65-F5344CB8AC3E}">
        <p14:creationId xmlns:p14="http://schemas.microsoft.com/office/powerpoint/2010/main" val="11136805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03 · AgentTeams 六角色真实协作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六 Agent 的价值是职责隔离，不是角色数量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六个 Identity 共享状态与证据；Executor 不能自证成功，Auditor 独占终态裁决。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89671-1208-4EA0-9CC8-738385B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1E63-DD76-450A-956F-7BDCAC8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24DC9-449E-46FA-9F95-7915A25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7CE4A-2B37-4B00-8ECD-F51FCBB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D54B7-67BF-4A2C-9781-DE5CC61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2CD5226F-6BC0-412C-8C10-DD77AFA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01 Commander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编排 · 发布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13064D5D-CEF3-4177-9A8B-3F6887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02 Collector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白名单采证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D9EDCFAE-DEDF-4BD6-BF8D-2880728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03 RCA Analyst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证据约束假设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1489CCE6-D631-45F7-B8F2-FBC501B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04 Planner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单变量计划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9345F1F7-68D9-4E3A-AE63-0ACB908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05 Executor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批准后执行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9604E0B5-A3A3-43B1-A161-033B493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06 Auditor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独立裁决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B417C9F3-F249-42CA-AB5E-8ECEAB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Commander → Collector → Analyst → Planner → Executor → Auditor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3E41A857-B981-4C83-AF1E-93D5D9F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真实 handoff 留痕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Manager / Worker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task + event reference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0DCBB283-3AB3-4664-A4E6-8E7C249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Separation of Duties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Executor ≠ Auditor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RESOLVED / ROLLED_BACK / BLOCKED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54F6F5-E940-4EAB-968D-6CAD50E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04 · Skill Engineering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E4242-38E1-42A7-81AE-6816211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7 个可复用、版本化、可验证的能力契约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DB276A-F532-4505-B423-D2A6EC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8BA9B5-1EAE-4156-901D-BA9E715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03EFBA-1EC9-4771-86E2-9214582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Skill 不是 Prompt：Registry 绑定 Owner、I/O、调用条件、失败状态、安全边界与验证方法。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6F765-235A-479C-84D3-B8BD532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3C272-126D-44D8-BF39-3DC16FB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0CDF9-76F5-4AAE-B45F-41431BD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E07BD-0B55-48FD-B2E5-C11C74D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skill-0">
            <a:extLst xmlns:a="http://schemas.openxmlformats.org/drawingml/2006/main">
              <a:ext uri="{FF2B5EF4-FFF2-40B4-BE49-F238E27FC236}">
                <a16:creationId xmlns:a16="http://schemas.microsoft.com/office/drawing/2014/main" id="{C964DBD8-C07C-4BB2-BB87-DB6E54B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collect-lab-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evidence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v0.2.0 · Collector</a:t>
            </a:r>
          </a:p>
        </p:txBody>
      </p:sp>
      <p:sp>
        <p:nvSpPr>
          <p:cNvPr id="44" name="skill-1">
            <a:extLst xmlns:a="http://schemas.openxmlformats.org/drawingml/2006/main">
              <a:ext uri="{FF2B5EF4-FFF2-40B4-BE49-F238E27FC236}">
                <a16:creationId xmlns:a16="http://schemas.microsoft.com/office/drawing/2014/main" id="{359D708B-8CAF-46BF-8CEF-7E5226C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diagnose-lab-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incident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v0.2.0 · RCA</a:t>
            </a:r>
          </a:p>
        </p:txBody>
      </p:sp>
      <p:sp>
        <p:nvSpPr>
          <p:cNvPr id="45" name="skill-2">
            <a:extLst xmlns:a="http://schemas.openxmlformats.org/drawingml/2006/main">
              <a:ext uri="{FF2B5EF4-FFF2-40B4-BE49-F238E27FC236}">
                <a16:creationId xmlns:a16="http://schemas.microsoft.com/office/drawing/2014/main" id="{EF23F681-CF83-4B32-9AB9-6D4E742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plan-lab-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experiment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v0.2.1 · Planner</a:t>
            </a:r>
          </a:p>
        </p:txBody>
      </p:sp>
      <p:sp>
        <p:nvSpPr>
          <p:cNvPr id="46" name="skill-3">
            <a:extLst xmlns:a="http://schemas.openxmlformats.org/drawingml/2006/main">
              <a:ext uri="{FF2B5EF4-FFF2-40B4-BE49-F238E27FC236}">
                <a16:creationId xmlns:a16="http://schemas.microsoft.com/office/drawing/2014/main" id="{080F0E7F-5048-4EDE-8656-E864012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control-lab-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v0.2.0 · Executor</a:t>
            </a:r>
          </a:p>
        </p:txBody>
      </p:sp>
      <p:sp>
        <p:nvSpPr>
          <p:cNvPr id="47" name="skill-4">
            <a:extLst xmlns:a="http://schemas.openxmlformats.org/drawingml/2006/main">
              <a:ext uri="{FF2B5EF4-FFF2-40B4-BE49-F238E27FC236}">
                <a16:creationId xmlns:a16="http://schemas.microsoft.com/office/drawing/2014/main" id="{E1FE28AF-57C2-4864-933C-4D7A98E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verify-lab-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result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v0.2.0 · Auditor</a:t>
            </a:r>
          </a:p>
        </p:txBody>
      </p:sp>
      <p:sp>
        <p:nvSpPr>
          <p:cNvPr id="48" name="schema-rail">
            <a:extLst xmlns:a="http://schemas.openxmlformats.org/drawingml/2006/main">
              <a:ext uri="{FF2B5EF4-FFF2-40B4-BE49-F238E27FC236}">
                <a16:creationId xmlns:a16="http://schemas.microsoft.com/office/drawing/2014/main" id="{81CA4F4B-2A94-47EB-9B10-C42FB2B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Registry · Version · Owner · I/O Schema · Invocation · Failure · Security · Validation · Reuse</a:t>
            </a:r>
          </a:p>
        </p:txBody>
      </p:sp>
      <p:sp>
        <p:nvSpPr>
          <p:cNvPr id="49" name="pack-memory">
            <a:extLst xmlns:a="http://schemas.openxmlformats.org/drawingml/2006/main">
              <a:ext uri="{FF2B5EF4-FFF2-40B4-BE49-F238E27FC236}">
                <a16:creationId xmlns:a16="http://schemas.microsoft.com/office/drawing/2014/main" id="{2D348C02-BC1F-411E-8E61-87B67E5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6096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Commander Skills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pack-lab-evidence 0.2.0  ·  publish-case-memory 0.1.0</a:t>
            </a:r>
          </a:p>
        </p:txBody>
      </p:sp>
    </p:spTree>
    <p:extLst>
      <p:ext uri="{BB962C8B-B14F-4D97-AF65-F5344CB8AC3E}">
        <p14:creationId xmlns:p14="http://schemas.microsoft.com/office/powerpoint/2010/main" val="8724018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04 · Agent / Skill / Tool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Agent、Skill、Tool 三层分离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control-lab-action v0.2.0 · owner=safe-executor · 真实可验证契约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89671-1208-4EA0-9CC8-738385B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1E63-DD76-450A-956F-7BDCAC8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24DC9-449E-46FA-9F95-7915A25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7CE4A-2B37-4B00-8ECD-F51FCBB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D54B7-67BF-4A2C-9781-DE5CC61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2CD5226F-6BC0-412C-8C10-DD77AFA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Safe Executor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不能自证成功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13064D5D-CEF3-4177-9A8B-3F6887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control-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lab-action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版本化契约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D9EDCFAE-DEDF-4BD6-BF8D-2880728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Tool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Runner Gateway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外部执行接口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1489CCE6-D631-45F7-B8F2-FBC501B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Input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Approved Plan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+ Approval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9345F1F7-68D9-4E3A-AE63-0ACB908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Output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Run Result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+ Manifest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9604E0B5-A3A3-43B1-A161-033B493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Boundary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network=none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protected paths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B417C9F3-F249-42CA-AB5E-8ECEAB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Invocation：Policy passed &amp;&amp; scoped approval exists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3E41A857-B981-4C83-AF1E-93D5D9F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Failure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capability missing / timeout / policy mismatch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→ fail closed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0DCBB283-3AB3-4664-A4E6-8E7C249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Validation + Reuse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manifest + protected hashes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evaluation / data / controlled engineering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05 · Policy / Approval / Tool Contract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 不能直接调用真实工程环境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Plan → Policy → Human Approval → Tool Contract → Gateway → 一次性断网 Runner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受控入口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3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Approved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Plan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3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Secure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Runner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Policy  →  Approval  →  Contract  →  Gateway allowlist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tool_id · caller_agent_id · skill_id · run_id · approval_reference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Tool Contract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身份 / 任务 / 审批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副作用 / 保护对象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预算 / 幂等键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执行隔离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non-root · read-only rootfs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output 与 tmp 可写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运行限制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CPU / memory / PID / timeout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network=none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审计输出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metrics / stdout / stderr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manifest / run_result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无审批或契约不一致 → Runner 不启动 / BLOCKED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06 · Independent Auditor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Executor 的成功声明不能关闭事故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Auditor 从原始产物独立重算后置条件、保护哈希、审批时序与 Trace。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职责分离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Executor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Auditor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produces artifacts                 decides terminal state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只有 verification-auditor 可以产生终态裁决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 / raw outputs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protected hashes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metric / manifest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approval timing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裁决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PASS / BLOCKED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POLICY_VIOLATION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禁止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编辑产物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复用 claimed score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9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Independent Auditor → RESOLVED / ROLLED_BACK / BLOCKED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07 · Trace / Evidence / Audit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Trace 与 Evidence Bundle 形成可复核链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Matrix 记录事件顺序，Runner 与 MinIO 保存原始产物；Bundle 由 allowlist 封装。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权威载体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Trace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Bundle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hash-chained events                 immutable artifacts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Trace · Log · Metrics · Artifact · Approval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完整性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SHA-256 member set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CHAIN_OK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Evidence Bundle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manifest + sizes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allowlisted paths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共享状态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Matrix + MinIO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case memory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只读投影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Dashboard 重算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不改变状态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证据缺失或哈希不符 → BLOCKED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B58A02-1388-4AD5-942F-F555F7A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08 · Trust Dashboard · REAL UI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527B30-EABE-4273-8E97-49738CC9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真实只读 Dashboard：五段证据链</a:t>
            </a:r>
            <a:endParaRPr sz="2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8796978-B7CB-4EBE-B02B-27B861D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000"/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4040ebaee470b"/>
          <a:srcRect xmlns:a="http://schemas.openxmlformats.org/drawingml/2006/main" l="0" t="11709" r="0" b="11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1104900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</p:spTree>
    <p:extLst>
      <p:ext uri="{BB962C8B-B14F-4D97-AF65-F5344CB8AC3E}">
        <p14:creationId xmlns:p14="http://schemas.microsoft.com/office/powerpoint/2010/main" val="19152508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09 · 风险路径：AT-002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危险 metric 修改在受保护边界内被拒绝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AT-002 使用隔离 adversarial fixture；不代表真实生产资源已被越权修改。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受保护动作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metric.py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DENIED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policy check                      protected-resource rejection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POLICY_VIOLATION → rollback verification → terminal not RESOLVED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事实边界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isolated fixture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protected metric logic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Policy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protected resource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execution denied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Evidence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before == after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original hash restored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Audit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independent verdict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rollback verified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POLICY_VIOLATION / ROLLED_BACK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10 · 合法路径：AT-004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合法行动经 Auditor 独立裁决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仅允许修改预处理配置；metric、model、data、checkpoint 等保护对象保持不变。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三次独立复算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71.88%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97.81%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baseline ×3 · spread 0     candidate ×3 · spread 0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精确值：71.875% × 3 → 97.8124976% × 3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审批与能力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APPROVED &lt; run start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host 8/8 · runner 10/10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保护边界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6 组文件哈希不变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only 1 sandbox field changed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Runner 0.2.0 · CPU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non-root · network=none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独立审计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27 ZIP entries · 7 Trace entries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CHAIN_OK / ACCEPTED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Verification Auditor：PASS / RESOLVED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801de8792487f"/>
          <a:stretch xmlns:a="http://schemas.openxmlformats.org/drawingml/2006/main"/>
        </p:blipFill>
        <p:spPr>
          <a:xfrm xmlns:a="http://schemas.openxmlformats.org/drawingml/2006/main">
            <a:off x="10715625" y="1000125"/>
            <a:ext cx="904875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11 · AgentTeams / Trace 真证据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 handoff 由 Trace 证明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冻结 AT-004 Trace 含 actor、event_id、task_id、时间与哈希链；不含 runtime skill_id event。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REAL RUN EVIDENCE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Manager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Auditor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16:52:40Z                         17:13:50Z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task → evidence → RCA → plan → approval → run → verification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Trace identity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LABOPS-AT-004-EVAL-DRIFT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Matrix event_id + SHA-256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Manager → Collector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task_accepted_dispatched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16:52:40Z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Analyst → Planner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hypotheses_ranked → plan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16:59:45Z / 17:04:45Z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Executor → Auditor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run_executed → verification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17:11:32Z / 17:13:50Z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2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CHAIN_OK · 7 entries · RESOLVED · 历史 Trace 不含 runtime skill_id event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12 · Trust Evaluation Suite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10 个治理案例与 Oracle 全部一致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输入与 Oracle 隔离；Suite 只验证治理规则，不衡量通用 Agent 推理或生产安全性。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Suite v1.0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3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10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CASES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3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10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MATCH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fixed governance inputs            sealed Oracle decisions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2 legal cases · 8 cases that must not resolve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Policy violation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2/2 correctly rejected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before controlled run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Evidence classification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10/10 matched Oracle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complete vs incomplete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False resolution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0 of 8 non-resolved cases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were closed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Independent audit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10/10 decisions require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valid Auditor authority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10/10 Oracle match · 8 个非关闭案例无错误关闭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9515D8-879F-4E3D-A7C5-89CC0F9B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13 · Engineering Validation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B408BC-1BE4-4547-9ACB-C98C08C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冻结版本的完成声明都有自动化证据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1288F90-79BA-4C9C-A15F-75B54B4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代码、Evidence、Public Demo、只读边界与开源合规分别验证。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open-now-label">
            <a:extLst xmlns:a="http://schemas.openxmlformats.org/drawingml/2006/main">
              <a:ext uri="{FF2B5EF4-FFF2-40B4-BE49-F238E27FC236}">
                <a16:creationId xmlns:a16="http://schemas.microsoft.com/office/drawing/2014/main" id="{BDB948B9-8336-4FC8-9D51-86FE7CB5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测试</a:t>
            </a:r>
          </a:p>
        </p:txBody>
      </p:sp>
      <p:sp>
        <p:nvSpPr>
          <p:cNvPr id="40" name="open-now">
            <a:extLst xmlns:a="http://schemas.openxmlformats.org/drawingml/2006/main">
              <a:ext uri="{FF2B5EF4-FFF2-40B4-BE49-F238E27FC236}">
                <a16:creationId xmlns:a16="http://schemas.microsoft.com/office/drawing/2014/main" id="{821AA509-153A-4A62-906B-4DC81166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127 tests  ·  125 passed  ·  2 optional PyTorch skipped</a:t>
            </a:r>
          </a:p>
        </p:txBody>
      </p:sp>
      <p:sp>
        <p:nvSpPr>
          <p:cNvPr id="41" name="gates-label">
            <a:extLst xmlns:a="http://schemas.openxmlformats.org/drawingml/2006/main">
              <a:ext uri="{FF2B5EF4-FFF2-40B4-BE49-F238E27FC236}">
                <a16:creationId xmlns:a16="http://schemas.microsoft.com/office/drawing/2014/main" id="{8DFA1DC7-615F-4BC2-BE4F-9A08E4FF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Evidence / Interface</a:t>
            </a:r>
          </a:p>
        </p:txBody>
      </p:sp>
      <p:sp>
        <p:nvSpPr>
          <p:cNvPr id="42" name="gates">
            <a:extLst xmlns:a="http://schemas.openxmlformats.org/drawingml/2006/main">
              <a:ext uri="{FF2B5EF4-FFF2-40B4-BE49-F238E27FC236}">
                <a16:creationId xmlns:a16="http://schemas.microsoft.com/office/drawing/2014/main" id="{6A6CA3CA-B9F6-4F80-95F9-5E3D70B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AT-002/003/004 SHA-256 PASS  ·  Public Demo fresh  ·  write methods 405</a:t>
            </a:r>
          </a:p>
        </p:txBody>
      </p:sp>
      <p:sp>
        <p:nvSpPr>
          <p:cNvPr id="43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C8D6E492-D9C1-40EC-A4E1-A6CC8305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CI / Hygiene</a:t>
            </a:r>
          </a:p>
        </p:txBody>
      </p:sp>
      <p:sp>
        <p:nvSpPr>
          <p:cNvPr id="44" name="future">
            <a:extLst xmlns:a="http://schemas.openxmlformats.org/drawingml/2006/main">
              <a:ext uri="{FF2B5EF4-FFF2-40B4-BE49-F238E27FC236}">
                <a16:creationId xmlns:a16="http://schemas.microsoft.com/office/drawing/2014/main" id="{20FCB83D-14F9-48CB-BBC4-802B587A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Windows/Linux CI  ·  sensitive scan PASS  ·  SBOM / NOTICE / License gates</a:t>
            </a:r>
          </a:p>
        </p:txBody>
      </p:sp>
    </p:spTree>
    <p:extLst>
      <p:ext uri="{BB962C8B-B14F-4D97-AF65-F5344CB8AC3E}">
        <p14:creationId xmlns:p14="http://schemas.microsoft.com/office/powerpoint/2010/main" val="8062771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8C52BD-C9B7-457E-8A85-B3B73F3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14 · Open Source / Boundary / Roadmap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88435CA-9937-4DBC-B336-C92FC05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开放复用，边界同样明确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6FB380C-8D22-4CFA-8704-E06FEAF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Apache-2.0 源码、7 Skills、Schema、Evidence、CI 与 Public Demo 支持第三方复核和复用。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82E72D84-EFD7-459A-92CF-4560240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开放复用</a:t>
            </a:r>
          </a:p>
        </p:txBody>
      </p:sp>
      <p:sp>
        <p:nvSpPr>
          <p:cNvPr id="7" name="problem-number">
            <a:extLst xmlns:a="http://schemas.openxmlformats.org/drawingml/2006/main">
              <a:ext uri="{FF2B5EF4-FFF2-40B4-BE49-F238E27FC236}">
                <a16:creationId xmlns:a16="http://schemas.microsoft.com/office/drawing/2014/main" id="{8F82BB0B-810A-492F-97D5-B05A743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Source-first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CEC7EA6-21E3-4575-AD76-241FDBE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GitHub / Public Demo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Skill contracts / Schemas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3 Evidence Bundles / CI / SBOM</a:t>
            </a:r>
          </a:p>
        </p:txBody>
      </p:sp>
      <p:sp>
        <p:nvSpPr>
          <p:cNvPr id="9" name="value-kicker">
            <a:extLst xmlns:a="http://schemas.openxmlformats.org/drawingml/2006/main">
              <a:ext uri="{FF2B5EF4-FFF2-40B4-BE49-F238E27FC236}">
                <a16:creationId xmlns:a16="http://schemas.microsoft.com/office/drawing/2014/main" id="{0FC49EDD-D22F-4FEB-A6FD-1A45269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当前边界</a:t>
            </a:r>
          </a:p>
        </p:txBody>
      </p:sp>
      <p:sp>
        <p:nvSpPr>
          <p:cNvPr id="10" name="value-number">
            <a:extLst xmlns:a="http://schemas.openxmlformats.org/drawingml/2006/main">
              <a:ext uri="{FF2B5EF4-FFF2-40B4-BE49-F238E27FC236}">
                <a16:creationId xmlns:a16="http://schemas.microsoft.com/office/drawing/2014/main" id="{DA7AB6B2-774F-4981-A82A-46FFD8D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单机 CPU</a:t>
            </a:r>
          </a:p>
        </p:txBody>
      </p:sp>
      <p:sp>
        <p:nvSpPr>
          <p:cNvPr id="11" name="value-copy">
            <a:extLst xmlns:a="http://schemas.openxmlformats.org/drawingml/2006/main">
              <a:ext uri="{FF2B5EF4-FFF2-40B4-BE49-F238E27FC236}">
                <a16:creationId xmlns:a16="http://schemas.microsoft.com/office/drawing/2014/main" id="{E2F1CAE4-2EE8-4D30-8E4C-4D9CBB4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策略身份与固定 allowlist；非 production IAM、非多租户 Runtime、无 native MCP / OTel backend。</a:t>
            </a:r>
          </a:p>
        </p:txBody>
      </p:sp>
      <p:sp>
        <p:nvSpPr>
          <p:cNvPr id="12" name="value-foot">
            <a:extLst xmlns:a="http://schemas.openxmlformats.org/drawingml/2006/main">
              <a:ext uri="{FF2B5EF4-FFF2-40B4-BE49-F238E27FC236}">
                <a16:creationId xmlns:a16="http://schemas.microsoft.com/office/drawing/2014/main" id="{CDEFC619-C2AE-45BC-BCF0-E33C9CC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0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路线：production identity + scheduling + telemetry · Runner 镜像许可证门禁关闭前不发布</a:t>
            </a:r>
          </a:p>
        </p:txBody>
      </p:sp>
    </p:spTree>
    <p:extLst>
      <p:ext uri="{BB962C8B-B14F-4D97-AF65-F5344CB8AC3E}">
        <p14:creationId xmlns:p14="http://schemas.microsoft.com/office/powerpoint/2010/main" val="4542962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56F462-837E-4A2C-9B8B-B5CBAB5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15 · Closing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68E1CC-0218-401F-A6F8-E444CC1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把 Agent 行动从“模型自述”变成“可验证工程事件”</a:t>
            </a:r>
            <a:endParaRPr sz="2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F16AA40-8CA5-44FE-9A71-704B4B0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1F3F9DC-D0B4-4BCB-AE9B-4A391535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Trust Infrastructure for Production Agent Systems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4CC9CC-2520-4ACD-8CD2-5632A5B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9AE421-A5B3-4361-825E-62EF8DA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one-phase">
            <a:extLst xmlns:a="http://schemas.openxmlformats.org/drawingml/2006/main">
              <a:ext uri="{FF2B5EF4-FFF2-40B4-BE49-F238E27FC236}">
                <a16:creationId xmlns:a16="http://schemas.microsoft.com/office/drawing/2014/main" id="{F8150252-F88C-4A06-A96B-BCD1D2B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000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Governed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Identity · Skill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Policy · Approval</a:t>
            </a:r>
          </a:p>
        </p:txBody>
      </p:sp>
      <p:sp>
        <p:nvSpPr>
          <p:cNvPr id="42" name="gate-phase">
            <a:extLst xmlns:a="http://schemas.openxmlformats.org/drawingml/2006/main">
              <a:ext uri="{FF2B5EF4-FFF2-40B4-BE49-F238E27FC236}">
                <a16:creationId xmlns:a16="http://schemas.microsoft.com/office/drawing/2014/main" id="{FF33ECCB-8BEB-404F-B2FC-E457804C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Verifiable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Secure Execution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Trace · Evidence · Audit</a:t>
            </a:r>
          </a:p>
        </p:txBody>
      </p:sp>
      <p:sp>
        <p:nvSpPr>
          <p:cNvPr id="43" name="next-phase">
            <a:extLst xmlns:a="http://schemas.openxmlformats.org/drawingml/2006/main">
              <a:ext uri="{FF2B5EF4-FFF2-40B4-BE49-F238E27FC236}">
                <a16:creationId xmlns:a16="http://schemas.microsoft.com/office/drawing/2014/main" id="{03DC9AE0-E3CA-48E4-8CA3-B912E340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3095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Reusable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7 Skill Contracts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Schemas · Public Demo</a:t>
            </a:r>
          </a:p>
        </p:txBody>
      </p:sp>
      <p:sp>
        <p:nvSpPr>
          <p:cNvPr id="44" name="risk-rule">
            <a:extLst xmlns:a="http://schemas.openxmlformats.org/drawingml/2006/main">
              <a:ext uri="{FF2B5EF4-FFF2-40B4-BE49-F238E27FC236}">
                <a16:creationId xmlns:a16="http://schemas.microsoft.com/office/drawing/2014/main" id="{2F64D684-0D9F-4ECC-9A59-03A35485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01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LabOps-Guard does not make agents smarter. It makes agent execution verifiable and governable.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e4809d2b4484a"/>
          <a:stretch xmlns:a="http://schemas.openxmlformats.org/drawingml/2006/main"/>
        </p:blipFill>
        <p:spPr>
          <a:xfrm xmlns:a="http://schemas.openxmlformats.org/drawingml/2006/main">
            <a:off x="10668000" y="685800"/>
            <a:ext cx="838200" cy="83820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9fc11809b469b"/>
          <a:stretch xmlns:a="http://schemas.openxmlformats.org/drawingml/2006/main"/>
        </p:blipFill>
        <p:spPr>
          <a:xfrm xmlns:a="http://schemas.openxmlformats.org/drawingml/2006/main">
            <a:off x="9667875" y="6858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7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64C9BE24-B2C0-4CAD-AF25-FE881D07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621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GitHub</a:t>
            </a:r>
          </a:p>
        </p:txBody>
      </p:sp>
      <p:sp>
        <p:nvSpPr>
          <p:cNvPr id="48" name="demo-qr-label">
            <a:extLst xmlns:a="http://schemas.openxmlformats.org/drawingml/2006/main">
              <a:ext uri="{FF2B5EF4-FFF2-40B4-BE49-F238E27FC236}">
                <a16:creationId xmlns:a16="http://schemas.microsoft.com/office/drawing/2014/main" id="{FE8B1A58-8F5F-4CA7-81F1-16D0629C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5621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Public Demo</a:t>
            </a:r>
          </a:p>
        </p:txBody>
      </p:sp>
    </p:spTree>
    <p:extLst>
      <p:ext uri="{BB962C8B-B14F-4D97-AF65-F5344CB8AC3E}">
        <p14:creationId xmlns:p14="http://schemas.microsoft.com/office/powerpoint/2010/main" val="18166553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2026-08-26T07:07:00.0610000Z</dcterms:created>
  <dcterms:modified xsi:type="dcterms:W3CDTF">2026-08-26T07:07:00.0610000Z</dcterms:modified>
</coreProperties>
</file>