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be2da753784982" /><Relationship Type="http://schemas.openxmlformats.org/officeDocument/2006/relationships/extended-properties" Target="/docProps/app.xml" Id="R80a6007336624310" /><Relationship Type="http://schemas.openxmlformats.org/officeDocument/2006/relationships/officeDocument" Target="/ppt/presentation.xml" Id="R7f389873377e48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3ee62aed184838"/>
    <p:sldMasterId xmlns:r="http://schemas.openxmlformats.org/officeDocument/2006/relationships" id="2147483650" r:id="R6e567ea6b9194809"/>
  </p:sldMasterIdLst>
  <p:notesMasterIdLst>
    <p:notesMasterId xmlns:r="http://schemas.openxmlformats.org/officeDocument/2006/relationships" r:id="R1d2990fa64fb4415"/>
  </p:notesMasterIdLst>
  <p:sldIdLst>
    <p:sldId xmlns:r="http://schemas.openxmlformats.org/officeDocument/2006/relationships" id="256" r:id="R2976fe63c0c942ab"/>
    <p:sldId xmlns:r="http://schemas.openxmlformats.org/officeDocument/2006/relationships" id="257" r:id="R7c6afb71af4c49ee"/>
    <p:sldId xmlns:r="http://schemas.openxmlformats.org/officeDocument/2006/relationships" id="258" r:id="R7c3ec46e22e44d9a"/>
    <p:sldId xmlns:r="http://schemas.openxmlformats.org/officeDocument/2006/relationships" id="259" r:id="R6548247aefe74bd5"/>
    <p:sldId xmlns:r="http://schemas.openxmlformats.org/officeDocument/2006/relationships" id="260" r:id="Rf0686e50afa54820"/>
    <p:sldId xmlns:r="http://schemas.openxmlformats.org/officeDocument/2006/relationships" id="261" r:id="R5a394ab8e1e54401"/>
    <p:sldId xmlns:r="http://schemas.openxmlformats.org/officeDocument/2006/relationships" id="262" r:id="R683859e59b7d4a8a"/>
    <p:sldId xmlns:r="http://schemas.openxmlformats.org/officeDocument/2006/relationships" id="263" r:id="R572262a0aea7452d"/>
    <p:sldId xmlns:r="http://schemas.openxmlformats.org/officeDocument/2006/relationships" id="264" r:id="Re807f090c41248d3"/>
    <p:sldId xmlns:r="http://schemas.openxmlformats.org/officeDocument/2006/relationships" id="265" r:id="Re9d89ef45f6f47b7"/>
    <p:sldId xmlns:r="http://schemas.openxmlformats.org/officeDocument/2006/relationships" id="266" r:id="R3268461de67c419a"/>
    <p:sldId xmlns:r="http://schemas.openxmlformats.org/officeDocument/2006/relationships" id="267" r:id="R0ae54ebcea3d494e"/>
    <p:sldId xmlns:r="http://schemas.openxmlformats.org/officeDocument/2006/relationships" id="268" r:id="R325f3396c3154013"/>
    <p:sldId xmlns:r="http://schemas.openxmlformats.org/officeDocument/2006/relationships" id="269" r:id="R62d30f0aac3e4358"/>
    <p:sldId xmlns:r="http://schemas.openxmlformats.org/officeDocument/2006/relationships" id="270" r:id="R694af0e63bb04970"/>
    <p:sldId xmlns:r="http://schemas.openxmlformats.org/officeDocument/2006/relationships" id="271" r:id="Rb2141ad2b13946e5"/>
    <p:sldId xmlns:r="http://schemas.openxmlformats.org/officeDocument/2006/relationships" id="272" r:id="R7c8ff3cdfabf451f"/>
    <p:sldId xmlns:r="http://schemas.openxmlformats.org/officeDocument/2006/relationships" id="273" r:id="Rbd04f016c6a043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b19134dac74394" /><Relationship Type="http://schemas.openxmlformats.org/officeDocument/2006/relationships/slideMaster" Target="/ppt/slideMasters/slideMaster1.xml" Id="R053ee62aed184838" /><Relationship Type="http://schemas.openxmlformats.org/officeDocument/2006/relationships/slideMaster" Target="/ppt/slideMasters/slideMaster2.xml" Id="R6e567ea6b9194809" /><Relationship Type="http://schemas.openxmlformats.org/officeDocument/2006/relationships/notesMaster" Target="/ppt/notesMasters/notesMaster1.xml" Id="R1d2990fa64fb4415" /><Relationship Type="http://schemas.openxmlformats.org/officeDocument/2006/relationships/presProps" Target="/ppt/presProps.xml" Id="Rcddd8546f2ba433a" /><Relationship Type="http://schemas.openxmlformats.org/officeDocument/2006/relationships/viewProps" Target="/ppt/viewProps.xml" Id="R3edff16d4786426a" /><Relationship Type="http://schemas.openxmlformats.org/officeDocument/2006/relationships/tableStyles" Target="/ppt/tableStyles.xml" Id="R0b28f727757d429e" /><Relationship Type="http://schemas.openxmlformats.org/officeDocument/2006/relationships/slide" Target="/ppt/slides/slide1.xml" Id="R2976fe63c0c942ab" /><Relationship Type="http://schemas.openxmlformats.org/officeDocument/2006/relationships/slide" Target="/ppt/slides/slide2.xml" Id="R7c6afb71af4c49ee" /><Relationship Type="http://schemas.openxmlformats.org/officeDocument/2006/relationships/slide" Target="/ppt/slides/slide3.xml" Id="R7c3ec46e22e44d9a" /><Relationship Type="http://schemas.openxmlformats.org/officeDocument/2006/relationships/slide" Target="/ppt/slides/slide4.xml" Id="R6548247aefe74bd5" /><Relationship Type="http://schemas.openxmlformats.org/officeDocument/2006/relationships/slide" Target="/ppt/slides/slide5.xml" Id="Rf0686e50afa54820" /><Relationship Type="http://schemas.openxmlformats.org/officeDocument/2006/relationships/slide" Target="/ppt/slides/slide6.xml" Id="R5a394ab8e1e54401" /><Relationship Type="http://schemas.openxmlformats.org/officeDocument/2006/relationships/slide" Target="/ppt/slides/slide7.xml" Id="R683859e59b7d4a8a" /><Relationship Type="http://schemas.openxmlformats.org/officeDocument/2006/relationships/slide" Target="/ppt/slides/slide8.xml" Id="R572262a0aea7452d" /><Relationship Type="http://schemas.openxmlformats.org/officeDocument/2006/relationships/slide" Target="/ppt/slides/slide9.xml" Id="Re807f090c41248d3" /><Relationship Type="http://schemas.openxmlformats.org/officeDocument/2006/relationships/slide" Target="/ppt/slides/slide10.xml" Id="Re9d89ef45f6f47b7" /><Relationship Type="http://schemas.openxmlformats.org/officeDocument/2006/relationships/slide" Target="/ppt/slides/slide11.xml" Id="R3268461de67c419a" /><Relationship Type="http://schemas.openxmlformats.org/officeDocument/2006/relationships/slide" Target="/ppt/slides/slide12.xml" Id="R0ae54ebcea3d494e" /><Relationship Type="http://schemas.openxmlformats.org/officeDocument/2006/relationships/slide" Target="/ppt/slides/slide13.xml" Id="R325f3396c3154013" /><Relationship Type="http://schemas.openxmlformats.org/officeDocument/2006/relationships/slide" Target="/ppt/slides/slide14.xml" Id="R62d30f0aac3e4358" /><Relationship Type="http://schemas.openxmlformats.org/officeDocument/2006/relationships/slide" Target="/ppt/slides/slide15.xml" Id="R694af0e63bb04970" /><Relationship Type="http://schemas.openxmlformats.org/officeDocument/2006/relationships/slide" Target="/ppt/slides/slide16.xml" Id="Rb2141ad2b13946e5" /><Relationship Type="http://schemas.openxmlformats.org/officeDocument/2006/relationships/slide" Target="/ppt/slides/slide17.xml" Id="R7c8ff3cdfabf451f" /><Relationship Type="http://schemas.openxmlformats.org/officeDocument/2006/relationships/slide" Target="/ppt/slides/slide18.xml" Id="Rbd04f016c6a043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4105b24a612d46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2483f855c84385" /><Relationship Type="http://schemas.openxmlformats.org/officeDocument/2006/relationships/notesMaster" Target="/ppt/notesMasters/notesMaster1.xml" Id="R1c27cbf550a34f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901eeac87244f4" /><Relationship Type="http://schemas.openxmlformats.org/officeDocument/2006/relationships/notesMaster" Target="/ppt/notesMasters/notesMaster1.xml" Id="Ra7a69eed933743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1922020bce48ae" /><Relationship Type="http://schemas.openxmlformats.org/officeDocument/2006/relationships/notesMaster" Target="/ppt/notesMasters/notesMaster1.xml" Id="R99ac5e44d79f4f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d41fe8b31b4148" /><Relationship Type="http://schemas.openxmlformats.org/officeDocument/2006/relationships/notesMaster" Target="/ppt/notesMasters/notesMaster1.xml" Id="R322a62fac4224b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7f1d0e2e364205" /><Relationship Type="http://schemas.openxmlformats.org/officeDocument/2006/relationships/notesMaster" Target="/ppt/notesMasters/notesMaster1.xml" Id="R73ef3f3bf80c40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eed476a3f54920" /><Relationship Type="http://schemas.openxmlformats.org/officeDocument/2006/relationships/notesMaster" Target="/ppt/notesMasters/notesMaster1.xml" Id="R8c737174a58043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fb5f42dcfc4cbc" /><Relationship Type="http://schemas.openxmlformats.org/officeDocument/2006/relationships/notesMaster" Target="/ppt/notesMasters/notesMaster1.xml" Id="Rfd7f4545b6f94c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30897524a44752" /><Relationship Type="http://schemas.openxmlformats.org/officeDocument/2006/relationships/notesMaster" Target="/ppt/notesMasters/notesMaster1.xml" Id="Rfefc7dfc6d7d4c3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84fdbb1e9b4b9a" /><Relationship Type="http://schemas.openxmlformats.org/officeDocument/2006/relationships/notesMaster" Target="/ppt/notesMasters/notesMaster1.xml" Id="R023c85015e70435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9ea7cd579114a77" /><Relationship Type="http://schemas.openxmlformats.org/officeDocument/2006/relationships/notesMaster" Target="/ppt/notesMasters/notesMaster1.xml" Id="R459f4cf6e88743b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0585a4c61c846a9" /><Relationship Type="http://schemas.openxmlformats.org/officeDocument/2006/relationships/notesMaster" Target="/ppt/notesMasters/notesMaster1.xml" Id="R3c8e0f7d4b5742b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4f2d752c8974a19" /><Relationship Type="http://schemas.openxmlformats.org/officeDocument/2006/relationships/notesMaster" Target="/ppt/notesMasters/notesMaster1.xml" Id="R1860ece44b0c480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e0d4703bf434cc3" /><Relationship Type="http://schemas.openxmlformats.org/officeDocument/2006/relationships/notesMaster" Target="/ppt/notesMasters/notesMaster1.xml" Id="R62999cf92a33474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d4a6bbf1ee04fcb" /><Relationship Type="http://schemas.openxmlformats.org/officeDocument/2006/relationships/notesMaster" Target="/ppt/notesMasters/notesMaster1.xml" Id="R89c1fcbe2e4941b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4888e8245cc40eb" /><Relationship Type="http://schemas.openxmlformats.org/officeDocument/2006/relationships/notesMaster" Target="/ppt/notesMasters/notesMaster1.xml" Id="R75b4a8c262434f5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c9df29c60524924" /><Relationship Type="http://schemas.openxmlformats.org/officeDocument/2006/relationships/notesMaster" Target="/ppt/notesMasters/notesMaster1.xml" Id="R500242e51a3c444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072549737084b66" /><Relationship Type="http://schemas.openxmlformats.org/officeDocument/2006/relationships/notesMaster" Target="/ppt/notesMasters/notesMaster1.xml" Id="Rb603b548825b43d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cf13debde374151" /><Relationship Type="http://schemas.openxmlformats.org/officeDocument/2006/relationships/notesMaster" Target="/ppt/notesMasters/notesMaster1.xml" Id="R19918fa4e91544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README.md; CURRENT_STATE.md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README.md; demo/output-agentteams-at004/evidence_manifest.json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evidence: AT-004 collected_evidence.json; metrics.json; docs/competition-mapping.md</a:t>
            </a:r>
          </a:p>
          <a:p xmlns:a="http://schemas.openxmlformats.org/drawingml/2006/main">
            <a:r>
              <a:t>- Visual structure: user-provided GOAI Agent Infra preliminary template.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evidence: AT-004 collected_evidence.json; metrics.json; docs/competition-mapping.md</a:t>
            </a:r>
          </a:p>
          <a:p xmlns:a="http://schemas.openxmlformats.org/drawingml/2006/main">
            <a:r>
              <a:t>- Visual structure: user-provided GOAI Agent Infra preliminary template.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agentteams/agent_identities_v2.json; docs/security-model.md; docs/observability.md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demo/output-agentteams-at004/handoff_manifest.json; verification.json; agentteams_trace.jsonl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demo/output-agentteams-at004/handoff_manifest.json; verification.json; agentteams_trace.jsonl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demo/output-agentteams-at004/handoff_manifest.json; verification.json; agentteams_trace.jsonl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skills/CHANGELOG.md; skills/*/references/io-schema.json; memory/README.md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skills/CHANGELOG.md; skills/*/references/io-schema.json; memory/README.md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skills/CHANGELOG.md; skills/*/references/io-schema.json; memory/README.md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AT-004 metrics.json; run_result.json; verification.json; evidence_manifest.json; handoff_manifest.json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AT-004 metrics.json; run_result.json; verification.json; evidence_manifest.json; handoff_manifest.json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AT-004 metrics.json; run_result.json; verification.json; evidence_manifest.json; handoff_manifest.json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AT-004 metrics.json; run_result.json; verification.json; evidence_manifest.json; handoff_manifest.json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AT-004 metrics.json; run_result.json; verification.json; evidence_manifest.json; handoff_manifest.json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README.md; PLAN.md; docs/observability.md; OpenTelemetry official semantic-convention documentation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Internal project evidence: CURRENT_STATE.md; PLAN.md; KNOWN_LIMITATIONS.md</a:t>
            </a:r>
            <a:endParaRPr/>
          </a:p>
          <a:p xmlns:a="http://schemas.openxmlformats.org/drawingml/2006/main">
            <a:r>
              <a:t>- Visual structure: user-provided GOAI Agent Infra preliminary template.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a01846feeb416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8b213381a7b4a2e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e795dabc3042f6" /><Relationship Type="http://schemas.openxmlformats.org/officeDocument/2006/relationships/slideLayout" Target="/ppt/slideLayouts/slideLayout1.xml" Id="Rb35940323aa74806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beed5b0145d94179" /><Relationship Type="http://schemas.openxmlformats.org/officeDocument/2006/relationships/slideLayout" Target="/ppt/slideLayouts/slideLayout2.xml" Id="Rce9815f7f4ba423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5940323aa74806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ce9815f7f4ba4237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e37ef0841e49c4" /><Relationship Type="http://schemas.openxmlformats.org/officeDocument/2006/relationships/notesSlide" Target="/ppt/notesSlides/notesSlide1.xml" Id="R25921d50917e48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85d8dd13d4de4" /><Relationship Type="http://schemas.openxmlformats.org/officeDocument/2006/relationships/notesSlide" Target="/ppt/notesSlides/notesSlide2.xml" Id="R1ccda6d73f904e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9a8c30f7434f7f" /><Relationship Type="http://schemas.openxmlformats.org/officeDocument/2006/relationships/notesSlide" Target="/ppt/notesSlides/notesSlide3.xml" Id="R723b900b0ee440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3ceabc56494e75" /><Relationship Type="http://schemas.openxmlformats.org/officeDocument/2006/relationships/notesSlide" Target="/ppt/notesSlides/notesSlide4.xml" Id="R87afbbb0b7b5483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538686e1394951" /><Relationship Type="http://schemas.openxmlformats.org/officeDocument/2006/relationships/notesSlide" Target="/ppt/notesSlides/notesSlide5.xml" Id="R9511def38b574d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8308ce08f24bd6" /><Relationship Type="http://schemas.openxmlformats.org/officeDocument/2006/relationships/notesSlide" Target="/ppt/notesSlides/notesSlide6.xml" Id="Rf34d4cd3e24048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3e046a29244ce" /><Relationship Type="http://schemas.openxmlformats.org/officeDocument/2006/relationships/notesSlide" Target="/ppt/notesSlides/notesSlide7.xml" Id="R2c45f5d12cb041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66b5e1efd4fc8" /><Relationship Type="http://schemas.openxmlformats.org/officeDocument/2006/relationships/notesSlide" Target="/ppt/notesSlides/notesSlide8.xml" Id="R33cd1d4fdf1143c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2604b27fa5495c" /><Relationship Type="http://schemas.openxmlformats.org/officeDocument/2006/relationships/notesSlide" Target="/ppt/notesSlides/notesSlide9.xml" Id="R7240f433203646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30b746848d436a" /><Relationship Type="http://schemas.openxmlformats.org/officeDocument/2006/relationships/notesSlide" Target="/ppt/notesSlides/notesSlide10.xml" Id="Rb66e82fbeb79499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2d0ea177141fd" /><Relationship Type="http://schemas.openxmlformats.org/officeDocument/2006/relationships/notesSlide" Target="/ppt/notesSlides/notesSlide11.xml" Id="R04ba47992cfe47a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5d105e1dd4f87" /><Relationship Type="http://schemas.openxmlformats.org/officeDocument/2006/relationships/notesSlide" Target="/ppt/notesSlides/notesSlide12.xml" Id="R283927d64d904d0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5bbc026fd4304" /><Relationship Type="http://schemas.openxmlformats.org/officeDocument/2006/relationships/notesSlide" Target="/ppt/notesSlides/notesSlide13.xml" Id="Rf90fbf3f7671405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4d9d71edb74cab" /><Relationship Type="http://schemas.openxmlformats.org/officeDocument/2006/relationships/notesSlide" Target="/ppt/notesSlides/notesSlide14.xml" Id="R2aeafce4821141b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45d19659a4102" /><Relationship Type="http://schemas.openxmlformats.org/officeDocument/2006/relationships/image" Target="/ppt/media/image.png" Id="R902ab3a9eb004c95" /><Relationship Type="http://schemas.openxmlformats.org/officeDocument/2006/relationships/notesSlide" Target="/ppt/notesSlides/notesSlide15.xml" Id="Rcb78359474734b2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c5edcb124e414d" /><Relationship Type="http://schemas.openxmlformats.org/officeDocument/2006/relationships/notesSlide" Target="/ppt/notesSlides/notesSlide16.xml" Id="Rf2ff773498bc4ec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3d15989aa4e6b" /><Relationship Type="http://schemas.openxmlformats.org/officeDocument/2006/relationships/image" Target="/ppt/media/image2.png" Id="R9a1806d1b2c44dd3" /><Relationship Type="http://schemas.openxmlformats.org/officeDocument/2006/relationships/image" Target="/ppt/media/image3.png" Id="R06d1d8306ea94fac" /><Relationship Type="http://schemas.openxmlformats.org/officeDocument/2006/relationships/notesSlide" Target="/ppt/notesSlides/notesSlide17.xml" Id="R1f0d767f98dd4a2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9a3ddb0944d98" /><Relationship Type="http://schemas.openxmlformats.org/officeDocument/2006/relationships/image" Target="/ppt/media/image4.png" Id="R8e91c4a5d58940ba" /><Relationship Type="http://schemas.openxmlformats.org/officeDocument/2006/relationships/notesSlide" Target="/ppt/notesSlides/notesSlide18.xml" Id="R0431d1960b1c4d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1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4519CCF-7FDE-441F-9154-9A613CEC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554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GOAI 世界人工智能开源大赛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B063C60-2A9A-4F4D-AAB4-E7474A4F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868680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2000"/>
              </a:lnSpc>
              <a:buNone/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LabOps Guard</a:t>
            </a:r>
            <a:endParaRPr sz="4600"/>
          </a:p>
          <a:p xmlns:a="http://schemas.openxmlformats.org/drawingml/2006/main">
            <a:pPr marL="0" indent="0">
              <a:lnSpc>
                <a:spcPct val="102000"/>
              </a:lnSpc>
              <a:buNone/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可信多智能体实验守护系统</a:t>
            </a:r>
            <a:endParaRPr sz="46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9CCC9D5-5F82-416A-B422-40CECB27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722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AEB6D6"/>
                </a:solidFill>
                <a:latin typeface="微软雅黑"/>
                <a:ea typeface="微软雅黑"/>
                <a:cs typeface="微软雅黑"/>
              </a:rPr>
              <a:t>　　　　　　　　AgentTeams · 初赛方案</a:t>
            </a:r>
            <a:endParaRPr sz="1100"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0D7630DE-4C8F-4706-AF33-3313C894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26510"/>
            <a:ext cx="6096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无证据不诊断 · 无审批不执行 · 无验证不闭环</a:t>
            </a:r>
            <a:endParaRPr sz="1500" b="1" kern="0" spc="200">
              <a:solidFill>
                <a:srgbClr val="FF6B3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Shape 0 contained">
            <a:extLst xmlns:a="http://schemas.openxmlformats.org/drawingml/2006/main">
              <a:ext uri="{FF2B5EF4-FFF2-40B4-BE49-F238E27FC236}">
                <a16:creationId xmlns:a16="http://schemas.microsoft.com/office/drawing/2014/main" id="{5E02FF2A-C001-49B7-9AF6-E47DE8EF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  <a:ln xmlns:a="http://schemas.openxmlformats.org/drawingml/2006/main" w="0">
            <a:solidFill>
              <a:srgbClr val="2A2F5B"/>
            </a:solidFill>
            <a:prstDash val="solid"/>
          </a:ln>
        </p:spPr>
      </p:sp>
      <p:sp>
        <p:nvSpPr>
          <p:cNvPr id="21" name="Shape 1 contained">
            <a:extLst xmlns:a="http://schemas.openxmlformats.org/drawingml/2006/main">
              <a:ext uri="{FF2B5EF4-FFF2-40B4-BE49-F238E27FC236}">
                <a16:creationId xmlns:a16="http://schemas.microsoft.com/office/drawing/2014/main" id="{5A320F3E-529E-4E77-AB04-7C83F75C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53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  <a:ln xmlns:a="http://schemas.openxmlformats.org/drawingml/2006/main" w="0">
            <a:solidFill>
              <a:srgbClr val="2A2F5B"/>
            </a:solidFill>
            <a:prstDash val="solid"/>
          </a:ln>
        </p:spPr>
      </p:sp>
      <p:sp>
        <p:nvSpPr>
          <p:cNvPr id="22" name="Shape 2 contained">
            <a:extLst xmlns:a="http://schemas.openxmlformats.org/drawingml/2006/main">
              <a:ext uri="{FF2B5EF4-FFF2-40B4-BE49-F238E27FC236}">
                <a16:creationId xmlns:a16="http://schemas.microsoft.com/office/drawing/2014/main" id="{4F7E25E2-5EF3-4635-8839-0F4391D9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76875"/>
            <a:ext cx="1381125" cy="1381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  <a:ln xmlns:a="http://schemas.openxmlformats.org/drawingml/2006/main" w="0">
            <a:solidFill>
              <a:srgbClr val="2A2F5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995325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8B58A02-1388-4AD5-942F-F555F7A6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初赛 · 一页纸速览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A527B30-EABE-4273-8E97-49738CC9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作品简介</a:t>
            </a:r>
            <a:endParaRPr sz="29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F399241-D630-4CD8-99FE-05D17071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1B3707B-C11E-4632-BB54-2CA0F0A5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D24C80E-BB5A-4296-87CB-9183F074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项目名称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690A0E7-77E7-415C-BC61-D10593D6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可信多智能体实验守护系统</a:t>
            </a:r>
            <a:endParaRPr sz="1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CCB1007-F91C-4C57-90BF-0018046F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LabOps Guard</a:t>
            </a:r>
            <a:endParaRPr sz="10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ABAB656-6A19-477D-BE39-D8EC76CE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0DF84EA-5668-47CD-ABB7-1D163065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F775768-535D-4EF1-8C98-999CBAAF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问题与场景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0991F39-040D-4B06-921F-0F37F087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指标回退后，修复过程缺少可证明证据。</a:t>
            </a:r>
            <a:endParaRPr sz="11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AECA882-208B-4163-8D65-EC274701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谁做、改了什么、是否越权？</a:t>
            </a:r>
            <a:endParaRPr sz="10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604BC66-4A2D-4DBF-AF4F-847A78B8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65B4D5E-71FD-418B-AE83-542372FD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ACDA2E5-D97F-4E1F-9B13-E31081A6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核心解决方案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6775CF1-2B51-4165-8904-9D89C0FD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六角色职责隔离 + 人工审批 + 断网 Runner</a:t>
            </a:r>
            <a:endParaRPr sz="11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79DA22D-96B1-4A9A-8335-F807366E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AgentTeams 证据闭环</a:t>
            </a:r>
            <a:endParaRPr sz="10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A5B3B082-4F66-47D9-9B7A-ADE33307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CC1D3DD1-DDA4-4495-877F-990D852C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96CB46D-B58A-4EE9-BEA6-58FE5859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创新点与差异化</a:t>
            </a:r>
            <a:endParaRPr sz="15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BEAE2AC-D458-4EDA-9C70-DBBCD161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Executor 无权宣布成功；失败也是正式结果。</a:t>
            </a:r>
            <a:endParaRPr sz="11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07321EA-D803-4464-BB1E-82C040DB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独立验证 · 可阻塞 · 可回滚</a:t>
            </a:r>
            <a:endParaRPr sz="10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D470B119-0BF9-4FC3-8CC4-42B4842D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0FBF911-92B3-4C62-A3E1-D544CF13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5A024AAE-E4D5-49A5-8EC9-751D0EA6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复用价值</a:t>
            </a:r>
            <a:endParaRPr sz="15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3DC3B3CD-3635-4514-A803-B264DCEA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7 个版本化 Skill、Schema 与 Runner 契约</a:t>
            </a:r>
            <a:endParaRPr sz="11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335DC10B-B8D6-447F-BA62-84876C6C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训练 · 评测 · 数据 · 发布</a:t>
            </a:r>
            <a:endParaRPr sz="105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8629CA80-278D-4977-9BF4-79324962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28EBD13-0FEB-499B-9FD2-A381C72E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6D4C11D-EB06-4A08-A08A-F6A19F9D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当前进展</a:t>
            </a:r>
            <a:endParaRPr sz="15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A575587F-4DE6-4AF4-AEB7-2E3CD657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AT-004 六角色实跑，三案例证据已固化。</a:t>
            </a:r>
            <a:endParaRPr sz="11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222AC351-3C87-4987-86B8-4AB57BB3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71.875% ×3 → 97.8124976% ×3</a:t>
            </a:r>
            <a:endParaRPr sz="105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28796978-B7CB-4EBE-B02B-27B861D4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91525080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18C52BD-C9B7-457E-8A85-B3B73F38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2748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01 · 场景与价值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088435CA-9937-4DBC-B336-C92FC05A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5491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指标恢复，不等于修复可信</a:t>
            </a:r>
            <a:endParaRPr sz="2900"/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C6FB380C-8D22-4CFA-8704-E06FEAFA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475" y="118935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AI 实验的真正风险，是把不可复核的动作误判成成功。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problem-kicker">
            <a:extLst xmlns:a="http://schemas.openxmlformats.org/drawingml/2006/main">
              <a:ext uri="{FF2B5EF4-FFF2-40B4-BE49-F238E27FC236}">
                <a16:creationId xmlns:a16="http://schemas.microsoft.com/office/drawing/2014/main" id="{82E72D84-EFD7-459A-92CF-45602409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383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6862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rPr>
              <a:t>真实回退</a:t>
            </a:r>
          </a:p>
        </p:txBody>
      </p:sp>
      <p:sp>
        <p:nvSpPr>
          <p:cNvPr id="7" name="problem-number">
            <a:extLst xmlns:a="http://schemas.openxmlformats.org/drawingml/2006/main">
              <a:ext uri="{FF2B5EF4-FFF2-40B4-BE49-F238E27FC236}">
                <a16:creationId xmlns:a16="http://schemas.microsoft.com/office/drawing/2014/main" id="{8F82BB0B-810A-492F-97D5-B05A7437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F6633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FF6633"/>
                </a:solidFill>
                <a:latin typeface="微软雅黑"/>
                <a:ea typeface="微软雅黑"/>
                <a:cs typeface="微软雅黑"/>
              </a:rPr>
              <a:t>71.875% × 3</a:t>
            </a:r>
          </a:p>
        </p:txBody>
      </p:sp>
      <p:sp>
        <p:nvSpPr>
          <p:cNvPr id="8" name="problem-copy">
            <a:extLst xmlns:a="http://schemas.openxmlformats.org/drawingml/2006/main">
              <a:ext uri="{FF2B5EF4-FFF2-40B4-BE49-F238E27FC236}">
                <a16:creationId xmlns:a16="http://schemas.microsoft.com/office/drawing/2014/main" id="{9CEC7EA6-21E3-4575-AD76-241FDBE7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433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checkpoint、验证集、metric 哈希均与历史一致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三次结果一致，随机波动不是主要解释</a:t>
            </a:r>
          </a:p>
        </p:txBody>
      </p:sp>
      <p:sp>
        <p:nvSpPr>
          <p:cNvPr id="9" name="value-kicker">
            <a:extLst xmlns:a="http://schemas.openxmlformats.org/drawingml/2006/main">
              <a:ext uri="{FF2B5EF4-FFF2-40B4-BE49-F238E27FC236}">
                <a16:creationId xmlns:a16="http://schemas.microsoft.com/office/drawing/2014/main" id="{0FC49EDD-D22F-4FEB-A6FD-1A45269E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383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6862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错误收口</a:t>
            </a:r>
          </a:p>
        </p:txBody>
      </p:sp>
      <p:sp>
        <p:nvSpPr>
          <p:cNvPr id="10" name="value-number">
            <a:extLst xmlns:a="http://schemas.openxmlformats.org/drawingml/2006/main">
              <a:ext uri="{FF2B5EF4-FFF2-40B4-BE49-F238E27FC236}">
                <a16:creationId xmlns:a16="http://schemas.microsoft.com/office/drawing/2014/main" id="{DA7AB6B2-774F-4981-A82A-46FFD8DA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28900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结果变好</a:t>
            </a:r>
          </a:p>
        </p:txBody>
      </p:sp>
      <p:sp>
        <p:nvSpPr>
          <p:cNvPr id="11" name="value-copy">
            <a:extLst xmlns:a="http://schemas.openxmlformats.org/drawingml/2006/main">
              <a:ext uri="{FF2B5EF4-FFF2-40B4-BE49-F238E27FC236}">
                <a16:creationId xmlns:a16="http://schemas.microsoft.com/office/drawing/2014/main" id="{E2F1CAE4-2EE8-4D30-8E4C-4D9CBB4C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可能来自越权改 metric、污染数据或未审批执行；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没有证据链，就不能把提升当成可信修复。</a:t>
            </a:r>
          </a:p>
        </p:txBody>
      </p:sp>
      <p:sp>
        <p:nvSpPr>
          <p:cNvPr id="12" name="value-foot">
            <a:extLst xmlns:a="http://schemas.openxmlformats.org/drawingml/2006/main">
              <a:ext uri="{FF2B5EF4-FFF2-40B4-BE49-F238E27FC236}">
                <a16:creationId xmlns:a16="http://schemas.microsoft.com/office/drawing/2014/main" id="{CDEFC619-C2AE-45BC-BCF0-E33C9CC5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19700"/>
            <a:ext cx="628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D234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D2342"/>
                </a:solidFill>
                <a:latin typeface="微软雅黑"/>
                <a:ea typeface="微软雅黑"/>
                <a:cs typeface="微软雅黑"/>
              </a:rPr>
              <a:t>目标用户：模型研发 · 评测平台 · AI Infra · 算法治理</a:t>
            </a:r>
          </a:p>
        </p:txBody>
      </p:sp>
    </p:spTree>
    <p:extLst>
      <p:ext uri="{BB962C8B-B14F-4D97-AF65-F5344CB8AC3E}">
        <p14:creationId xmlns:p14="http://schemas.microsoft.com/office/powerpoint/2010/main" val="45429624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B18C52BD-C9B7-457E-8A85-B3B73F38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2748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01 · 场景与价值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088435CA-9937-4DBC-B336-C92FC05A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5491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把一次排障，变成可迁移的治理能力</a:t>
            </a:r>
            <a:endParaRPr sz="2900"/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C6FB380C-8D22-4CFA-8704-E06FEAFA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475" y="118935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同一闭环可迁移到训练失败、评测漂移、数据质量和发布验证。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problem-kicker">
            <a:extLst xmlns:a="http://schemas.openxmlformats.org/drawingml/2006/main">
              <a:ext uri="{FF2B5EF4-FFF2-40B4-BE49-F238E27FC236}">
                <a16:creationId xmlns:a16="http://schemas.microsoft.com/office/drawing/2014/main" id="{82E72D84-EFD7-459A-92CF-45602409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383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6862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rPr>
              <a:t>传统排障</a:t>
            </a:r>
          </a:p>
        </p:txBody>
      </p:sp>
      <p:sp>
        <p:nvSpPr>
          <p:cNvPr id="7" name="problem-number">
            <a:extLst xmlns:a="http://schemas.openxmlformats.org/drawingml/2006/main">
              <a:ext uri="{FF2B5EF4-FFF2-40B4-BE49-F238E27FC236}">
                <a16:creationId xmlns:a16="http://schemas.microsoft.com/office/drawing/2014/main" id="{8F82BB0B-810A-492F-97D5-B05A7437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F6633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FF6633"/>
                </a:solidFill>
                <a:latin typeface="微软雅黑"/>
                <a:ea typeface="微软雅黑"/>
                <a:cs typeface="微软雅黑"/>
              </a:rPr>
              <a:t>快但不可证</a:t>
            </a:r>
          </a:p>
        </p:txBody>
      </p:sp>
      <p:sp>
        <p:nvSpPr>
          <p:cNvPr id="8" name="problem-copy">
            <a:extLst xmlns:a="http://schemas.openxmlformats.org/drawingml/2006/main">
              <a:ext uri="{FF2B5EF4-FFF2-40B4-BE49-F238E27FC236}">
                <a16:creationId xmlns:a16="http://schemas.microsoft.com/office/drawing/2014/main" id="{9CEC7EA6-21E3-4575-AD76-241FDBE7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433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建议、执行、验收混在一起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证据散落，异常分支常被跳过</a:t>
            </a:r>
          </a:p>
        </p:txBody>
      </p:sp>
      <p:sp>
        <p:nvSpPr>
          <p:cNvPr id="9" name="value-kicker">
            <a:extLst xmlns:a="http://schemas.openxmlformats.org/drawingml/2006/main">
              <a:ext uri="{FF2B5EF4-FFF2-40B4-BE49-F238E27FC236}">
                <a16:creationId xmlns:a16="http://schemas.microsoft.com/office/drawing/2014/main" id="{0FC49EDD-D22F-4FEB-A6FD-1A45269E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383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6862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LabOps Guard</a:t>
            </a:r>
          </a:p>
        </p:txBody>
      </p:sp>
      <p:sp>
        <p:nvSpPr>
          <p:cNvPr id="10" name="value-number">
            <a:extLst xmlns:a="http://schemas.openxmlformats.org/drawingml/2006/main">
              <a:ext uri="{FF2B5EF4-FFF2-40B4-BE49-F238E27FC236}">
                <a16:creationId xmlns:a16="http://schemas.microsoft.com/office/drawing/2014/main" id="{DA7AB6B2-774F-4981-A82A-46FFD8DA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28900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可复核闭环</a:t>
            </a:r>
          </a:p>
        </p:txBody>
      </p:sp>
      <p:sp>
        <p:nvSpPr>
          <p:cNvPr id="11" name="value-copy">
            <a:extLst xmlns:a="http://schemas.openxmlformats.org/drawingml/2006/main">
              <a:ext uri="{FF2B5EF4-FFF2-40B4-BE49-F238E27FC236}">
                <a16:creationId xmlns:a16="http://schemas.microsoft.com/office/drawing/2014/main" id="{E2F1CAE4-2EE8-4D30-8E4C-4D9CBB4C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角色、状态、审批、回滚和产物都有合同；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执行者与验证者相互独立。</a:t>
            </a:r>
          </a:p>
        </p:txBody>
      </p:sp>
      <p:sp>
        <p:nvSpPr>
          <p:cNvPr id="12" name="value-foot">
            <a:extLst xmlns:a="http://schemas.openxmlformats.org/drawingml/2006/main">
              <a:ext uri="{FF2B5EF4-FFF2-40B4-BE49-F238E27FC236}">
                <a16:creationId xmlns:a16="http://schemas.microsoft.com/office/drawing/2014/main" id="{CDEFC619-C2AE-45BC-BCF0-E33C9CC5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19700"/>
            <a:ext cx="628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D234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D2342"/>
                </a:solidFill>
                <a:latin typeface="微软雅黑"/>
                <a:ea typeface="微软雅黑"/>
                <a:cs typeface="微软雅黑"/>
              </a:rPr>
              <a:t>价值：缩短排障路径 · 阻止越权修复 · 沉淀可复用案例记忆</a:t>
            </a:r>
          </a:p>
        </p:txBody>
      </p:sp>
    </p:spTree>
    <p:extLst>
      <p:ext uri="{BB962C8B-B14F-4D97-AF65-F5344CB8AC3E}">
        <p14:creationId xmlns:p14="http://schemas.microsoft.com/office/powerpoint/2010/main" val="4542962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F664099-3C14-48C2-A659-F4A6E381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02 · 方案架构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3A04622-409E-4F5D-854E-61D25BEA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决策面、执行面、证据面彼此制衡</a:t>
            </a:r>
            <a:endParaRPr sz="29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664869E-4254-4AAA-9D05-EA73B50D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5</a:t>
            </a:r>
            <a:endParaRPr sz="10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17B3F63D-7ECD-41D2-910E-53FFB2DE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AgentTeams 负责拆解与交接；人工审批控制风险；Runner 只执行已批准的白名单计划。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5E18CD-BD3A-4969-B817-65267EE6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0990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B8825C-EBD4-4FAD-9618-6AAF6803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09900"/>
            <a:ext cx="685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1" name="decision-plane">
            <a:extLst xmlns:a="http://schemas.openxmlformats.org/drawingml/2006/main">
              <a:ext uri="{FF2B5EF4-FFF2-40B4-BE49-F238E27FC236}">
                <a16:creationId xmlns:a16="http://schemas.microsoft.com/office/drawing/2014/main" id="{601E6B86-CD2B-4F4F-BCC3-6BC4E29A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81250"/>
            <a:ext cx="2381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决策面 · AgentTeams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Incident → Evidence → RCA → Plan</a:t>
            </a:r>
          </a:p>
        </p:txBody>
      </p:sp>
      <p:sp>
        <p:nvSpPr>
          <p:cNvPr id="42" name="approval-gate">
            <a:extLst xmlns:a="http://schemas.openxmlformats.org/drawingml/2006/main">
              <a:ext uri="{FF2B5EF4-FFF2-40B4-BE49-F238E27FC236}">
                <a16:creationId xmlns:a16="http://schemas.microsoft.com/office/drawing/2014/main" id="{43C0206A-BDF8-4E5C-84B1-608E03B8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81250"/>
            <a:ext cx="2381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1EC"/>
          </a:solidFill>
          <a:ln xmlns:a="http://schemas.openxmlformats.org/drawingml/2006/main" w="9525">
            <a:solidFill>
              <a:srgbClr val="FFC2AD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控制面 · Approval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禁止动作不可降级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批准时间 &lt; 执行开始</a:t>
            </a:r>
          </a:p>
        </p:txBody>
      </p:sp>
      <p:sp>
        <p:nvSpPr>
          <p:cNvPr id="43" name="execution-plane">
            <a:extLst xmlns:a="http://schemas.openxmlformats.org/drawingml/2006/main">
              <a:ext uri="{FF2B5EF4-FFF2-40B4-BE49-F238E27FC236}">
                <a16:creationId xmlns:a16="http://schemas.microsoft.com/office/drawing/2014/main" id="{F5304905-7151-4125-8A27-7B949752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26670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CF9F3"/>
          </a:solidFill>
          <a:ln xmlns:a="http://schemas.openxmlformats.org/drawingml/2006/main" w="9525">
            <a:solidFill>
              <a:srgbClr val="B8E7D2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执行面 · Runner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结构化计划 · CPU · non-root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network=none</a:t>
            </a:r>
          </a:p>
        </p:txBody>
      </p:sp>
      <p:sp>
        <p:nvSpPr>
          <p:cNvPr id="44" name="evidence-rail">
            <a:extLst xmlns:a="http://schemas.openxmlformats.org/drawingml/2006/main">
              <a:ext uri="{FF2B5EF4-FFF2-40B4-BE49-F238E27FC236}">
                <a16:creationId xmlns:a16="http://schemas.microsoft.com/office/drawing/2014/main" id="{829BE3FC-63FB-4E83-A4C9-1FF11919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57700"/>
            <a:ext cx="895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rPr>
              <a:t>Matrix Trace     MinIO Artifact     Metrics / Log     Approval     SHA-256 Manifest</a:t>
            </a:r>
          </a:p>
        </p:txBody>
      </p:sp>
      <p:sp>
        <p:nvSpPr>
          <p:cNvPr id="45" name="closure-rule">
            <a:extLst xmlns:a="http://schemas.openxmlformats.org/drawingml/2006/main">
              <a:ext uri="{FF2B5EF4-FFF2-40B4-BE49-F238E27FC236}">
                <a16:creationId xmlns:a16="http://schemas.microsoft.com/office/drawing/2014/main" id="{2ACC1F24-1BA6-4B5C-9440-24D5C8B5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14950"/>
            <a:ext cx="800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rPr>
              <a:t>Auditor 独占终态裁决；Commander 在裁决后封包并沉淀 Case Memory。</a:t>
            </a:r>
          </a:p>
        </p:txBody>
      </p:sp>
    </p:spTree>
    <p:extLst>
      <p:ext uri="{BB962C8B-B14F-4D97-AF65-F5344CB8AC3E}">
        <p14:creationId xmlns:p14="http://schemas.microsoft.com/office/powerpoint/2010/main" val="11136805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78D8419-4AE5-4473-8ABF-07810AB7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02 · 方案架构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DA41500-16E4-4250-9FF3-3BA0B516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AT-004 业务闭环阶段视图</a:t>
            </a:r>
            <a:endParaRPr sz="29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94055390-0ECE-4650-A2C0-D1FABFA9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状态迁移只接受结构化产物；提示词输出和仪表盘回放都不是执行证据。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B89671-1208-4EA0-9CC8-738385B4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743200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F01E63-DD76-450A-956F-7BDCAC8E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43200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024DC9-449E-46FA-9F95-7915A254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743200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47CE4A-2B37-4B00-8ECD-F51FCBBC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43200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DD54B7-67BF-4A2C-9781-DE5CC618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743200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4" name="role-0">
            <a:extLst xmlns:a="http://schemas.openxmlformats.org/drawingml/2006/main">
              <a:ext uri="{FF2B5EF4-FFF2-40B4-BE49-F238E27FC236}">
                <a16:creationId xmlns:a16="http://schemas.microsoft.com/office/drawing/2014/main" id="{2CD5226F-6BC0-412C-8C10-DD77AFAD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01  INPUT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Commander</a:t>
            </a:r>
          </a:p>
        </p:txBody>
      </p:sp>
      <p:sp>
        <p:nvSpPr>
          <p:cNvPr id="45" name="role-1">
            <a:extLst xmlns:a="http://schemas.openxmlformats.org/drawingml/2006/main">
              <a:ext uri="{FF2B5EF4-FFF2-40B4-BE49-F238E27FC236}">
                <a16:creationId xmlns:a16="http://schemas.microsoft.com/office/drawing/2014/main" id="{13064D5D-CEF3-4177-9A8B-3F688735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02  EVIDENCE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Collector</a:t>
            </a:r>
          </a:p>
        </p:txBody>
      </p:sp>
      <p:sp>
        <p:nvSpPr>
          <p:cNvPr id="46" name="role-2">
            <a:extLst xmlns:a="http://schemas.openxmlformats.org/drawingml/2006/main">
              <a:ext uri="{FF2B5EF4-FFF2-40B4-BE49-F238E27FC236}">
                <a16:creationId xmlns:a16="http://schemas.microsoft.com/office/drawing/2014/main" id="{D9EDCFAE-DEDF-4BD6-BF8D-28807288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03  HYPOTHESIS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Analyst</a:t>
            </a:r>
          </a:p>
        </p:txBody>
      </p:sp>
      <p:sp>
        <p:nvSpPr>
          <p:cNvPr id="47" name="role-3">
            <a:extLst xmlns:a="http://schemas.openxmlformats.org/drawingml/2006/main">
              <a:ext uri="{FF2B5EF4-FFF2-40B4-BE49-F238E27FC236}">
                <a16:creationId xmlns:a16="http://schemas.microsoft.com/office/drawing/2014/main" id="{1489CCE6-D631-45F7-B8F2-FBC501B6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04  PLAN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Planner</a:t>
            </a:r>
          </a:p>
        </p:txBody>
      </p:sp>
      <p:sp>
        <p:nvSpPr>
          <p:cNvPr id="48" name="role-4">
            <a:extLst xmlns:a="http://schemas.openxmlformats.org/drawingml/2006/main">
              <a:ext uri="{FF2B5EF4-FFF2-40B4-BE49-F238E27FC236}">
                <a16:creationId xmlns:a16="http://schemas.microsoft.com/office/drawing/2014/main" id="{9345F1F7-68D9-4E3A-AE63-0ACB908B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9706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05  APPROVAL + RUN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Executor</a:t>
            </a:r>
          </a:p>
        </p:txBody>
      </p:sp>
      <p:sp>
        <p:nvSpPr>
          <p:cNvPr id="49" name="role-5">
            <a:extLst xmlns:a="http://schemas.openxmlformats.org/drawingml/2006/main">
              <a:ext uri="{FF2B5EF4-FFF2-40B4-BE49-F238E27FC236}">
                <a16:creationId xmlns:a16="http://schemas.microsoft.com/office/drawing/2014/main" id="{9604E0B5-A3A3-43B1-A161-033B493F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06  VERIFY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Auditor</a:t>
            </a:r>
          </a:p>
        </p:txBody>
      </p:sp>
      <p:sp>
        <p:nvSpPr>
          <p:cNvPr id="50" name="handoff-proof">
            <a:extLst xmlns:a="http://schemas.openxmlformats.org/drawingml/2006/main">
              <a:ext uri="{FF2B5EF4-FFF2-40B4-BE49-F238E27FC236}">
                <a16:creationId xmlns:a16="http://schemas.microsoft.com/office/drawing/2014/main" id="{B417C9F3-F249-42CA-AB5E-8ECEAB28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rPr>
              <a:t>Exact state machine: agentteams/state_machine_v2.json</a:t>
            </a:r>
          </a:p>
        </p:txBody>
      </p:sp>
      <p:sp>
        <p:nvSpPr>
          <p:cNvPr id="51" name="failure-branch">
            <a:extLst xmlns:a="http://schemas.openxmlformats.org/drawingml/2006/main">
              <a:ext uri="{FF2B5EF4-FFF2-40B4-BE49-F238E27FC236}">
                <a16:creationId xmlns:a16="http://schemas.microsoft.com/office/drawing/2014/main" id="{3E41A857-B981-4C83-AF1E-93D5D9FA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52950"/>
            <a:ext cx="3810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F0C3C3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安全失败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证据 / 能力不足 → BLOCKED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策略越界 → ROLLED_BACK</a:t>
            </a:r>
          </a:p>
        </p:txBody>
      </p:sp>
      <p:sp>
        <p:nvSpPr>
          <p:cNvPr id="52" name="closure-branch">
            <a:extLst xmlns:a="http://schemas.openxmlformats.org/drawingml/2006/main">
              <a:ext uri="{FF2B5EF4-FFF2-40B4-BE49-F238E27FC236}">
                <a16:creationId xmlns:a16="http://schemas.microsoft.com/office/drawing/2014/main" id="{0DCBB283-3AB3-4664-A4E6-8E7C2495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52950"/>
            <a:ext cx="3810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EF9F4"/>
          </a:solidFill>
          <a:ln xmlns:a="http://schemas.openxmlformats.org/drawingml/2006/main" w="9525">
            <a:solidFill>
              <a:srgbClr val="B8E7D2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可信闭环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指标 + 哈希 + 时序 + Trace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全部通过 → RESOLVED</a:t>
            </a:r>
          </a:p>
        </p:txBody>
      </p:sp>
    </p:spTree>
    <p:extLst>
      <p:ext uri="{BB962C8B-B14F-4D97-AF65-F5344CB8AC3E}">
        <p14:creationId xmlns:p14="http://schemas.microsoft.com/office/powerpoint/2010/main" val="19669355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78D8419-4AE5-4473-8ABF-07810AB7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03 · AgentTeams 协同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DA41500-16E4-4250-9FF3-3BA0B516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六角色职责隔离，不是六个聊天身份</a:t>
            </a:r>
            <a:endParaRPr sz="29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94055390-0ECE-4650-A2C0-D1FABFA9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每个角色都有权限、禁止项、输入输出合同；Executor 不能自证成功。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B89671-1208-4EA0-9CC8-738385B4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743200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F01E63-DD76-450A-956F-7BDCAC8E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43200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024DC9-449E-46FA-9F95-7915A254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743200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47CE4A-2B37-4B00-8ECD-F51FCBBC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43200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DD54B7-67BF-4A2C-9781-DE5CC618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743200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4" name="role-0">
            <a:extLst xmlns:a="http://schemas.openxmlformats.org/drawingml/2006/main">
              <a:ext uri="{FF2B5EF4-FFF2-40B4-BE49-F238E27FC236}">
                <a16:creationId xmlns:a16="http://schemas.microsoft.com/office/drawing/2014/main" id="{2CD5226F-6BC0-412C-8C10-DD77AFAD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937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01 Commander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编排 · 状态 · 收口</a:t>
            </a:r>
          </a:p>
        </p:txBody>
      </p:sp>
      <p:sp>
        <p:nvSpPr>
          <p:cNvPr id="45" name="role-1">
            <a:extLst xmlns:a="http://schemas.openxmlformats.org/drawingml/2006/main">
              <a:ext uri="{FF2B5EF4-FFF2-40B4-BE49-F238E27FC236}">
                <a16:creationId xmlns:a16="http://schemas.microsoft.com/office/drawing/2014/main" id="{13064D5D-CEF3-4177-9A8B-3F688735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02 Collector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白名单采证</a:t>
            </a:r>
          </a:p>
        </p:txBody>
      </p:sp>
      <p:sp>
        <p:nvSpPr>
          <p:cNvPr id="46" name="role-2">
            <a:extLst xmlns:a="http://schemas.openxmlformats.org/drawingml/2006/main">
              <a:ext uri="{FF2B5EF4-FFF2-40B4-BE49-F238E27FC236}">
                <a16:creationId xmlns:a16="http://schemas.microsoft.com/office/drawing/2014/main" id="{D9EDCFAE-DEDF-4BD6-BF8D-28807288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03 RCA Analyst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证据约束假设</a:t>
            </a:r>
          </a:p>
        </p:txBody>
      </p:sp>
      <p:sp>
        <p:nvSpPr>
          <p:cNvPr id="47" name="role-3">
            <a:extLst xmlns:a="http://schemas.openxmlformats.org/drawingml/2006/main">
              <a:ext uri="{FF2B5EF4-FFF2-40B4-BE49-F238E27FC236}">
                <a16:creationId xmlns:a16="http://schemas.microsoft.com/office/drawing/2014/main" id="{1489CCE6-D631-45F7-B8F2-FBC501B6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04 Planner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单变量可回滚计划</a:t>
            </a:r>
          </a:p>
        </p:txBody>
      </p:sp>
      <p:sp>
        <p:nvSpPr>
          <p:cNvPr id="48" name="role-4">
            <a:extLst xmlns:a="http://schemas.openxmlformats.org/drawingml/2006/main">
              <a:ext uri="{FF2B5EF4-FFF2-40B4-BE49-F238E27FC236}">
                <a16:creationId xmlns:a16="http://schemas.microsoft.com/office/drawing/2014/main" id="{9345F1F7-68D9-4E3A-AE63-0ACB908B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05 Executor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批准后受限执行</a:t>
            </a:r>
          </a:p>
        </p:txBody>
      </p:sp>
      <p:sp>
        <p:nvSpPr>
          <p:cNvPr id="49" name="role-5">
            <a:extLst xmlns:a="http://schemas.openxmlformats.org/drawingml/2006/main">
              <a:ext uri="{FF2B5EF4-FFF2-40B4-BE49-F238E27FC236}">
                <a16:creationId xmlns:a16="http://schemas.microsoft.com/office/drawing/2014/main" id="{9604E0B5-A3A3-43B1-A161-033B493F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06 Auditor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独立复算与裁决</a:t>
            </a:r>
          </a:p>
        </p:txBody>
      </p:sp>
      <p:sp>
        <p:nvSpPr>
          <p:cNvPr id="50" name="handoff-proof">
            <a:extLst xmlns:a="http://schemas.openxmlformats.org/drawingml/2006/main">
              <a:ext uri="{FF2B5EF4-FFF2-40B4-BE49-F238E27FC236}">
                <a16:creationId xmlns:a16="http://schemas.microsoft.com/office/drawing/2014/main" id="{B417C9F3-F249-42CA-AB5E-8ECEAB28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rPr>
              <a:t>实际顺序：Commander → Collector → Analyst → Planner → Executor → Auditor</a:t>
            </a:r>
          </a:p>
        </p:txBody>
      </p:sp>
      <p:sp>
        <p:nvSpPr>
          <p:cNvPr id="51" name="failure-branch">
            <a:extLst xmlns:a="http://schemas.openxmlformats.org/drawingml/2006/main">
              <a:ext uri="{FF2B5EF4-FFF2-40B4-BE49-F238E27FC236}">
                <a16:creationId xmlns:a16="http://schemas.microsoft.com/office/drawing/2014/main" id="{3E41A857-B981-4C83-AF1E-93D5D9FA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52950"/>
            <a:ext cx="3810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F0C3C3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人工审批不计作 Agent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审批事件单独留痕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批准必须早于执行</a:t>
            </a:r>
          </a:p>
        </p:txBody>
      </p:sp>
      <p:sp>
        <p:nvSpPr>
          <p:cNvPr id="52" name="closure-branch">
            <a:extLst xmlns:a="http://schemas.openxmlformats.org/drawingml/2006/main">
              <a:ext uri="{FF2B5EF4-FFF2-40B4-BE49-F238E27FC236}">
                <a16:creationId xmlns:a16="http://schemas.microsoft.com/office/drawing/2014/main" id="{0DCBB283-3AB3-4664-A4E6-8E7C2495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52950"/>
            <a:ext cx="3810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EF9F4"/>
          </a:solidFill>
          <a:ln xmlns:a="http://schemas.openxmlformats.org/drawingml/2006/main" w="9525">
            <a:solidFill>
              <a:srgbClr val="B8E7D2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身份合同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权限 / 禁止项 / Skill / handoff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逐项可核对</a:t>
            </a:r>
          </a:p>
        </p:txBody>
      </p:sp>
    </p:spTree>
    <p:extLst>
      <p:ext uri="{BB962C8B-B14F-4D97-AF65-F5344CB8AC3E}">
        <p14:creationId xmlns:p14="http://schemas.microsoft.com/office/powerpoint/2010/main" val="19669355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78D8419-4AE5-4473-8ABF-07810AB7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03 · AgentTeams 协同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DA41500-16E4-4250-9FF3-3BA0B516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每次交接都能追溯到真实事件与产物</a:t>
            </a:r>
            <a:endParaRPr sz="29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94055390-0ECE-4650-A2C0-D1FABFA9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handoff 固定记录 task ID、输入、输出、时间、状态和 Matrix 真实 event_id。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B89671-1208-4EA0-9CC8-738385B4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743200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F01E63-DD76-450A-956F-7BDCAC8E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43200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024DC9-449E-46FA-9F95-7915A254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743200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47CE4A-2B37-4B00-8ECD-F51FCBBC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43200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DD54B7-67BF-4A2C-9781-DE5CC618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743200"/>
            <a:ext cx="4095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4" name="role-0">
            <a:extLst xmlns:a="http://schemas.openxmlformats.org/drawingml/2006/main">
              <a:ext uri="{FF2B5EF4-FFF2-40B4-BE49-F238E27FC236}">
                <a16:creationId xmlns:a16="http://schemas.microsoft.com/office/drawing/2014/main" id="{2CD5226F-6BC0-412C-8C10-DD77AFAD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H1  ASSIGN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incident contract</a:t>
            </a:r>
          </a:p>
        </p:txBody>
      </p:sp>
      <p:sp>
        <p:nvSpPr>
          <p:cNvPr id="45" name="role-1">
            <a:extLst xmlns:a="http://schemas.openxmlformats.org/drawingml/2006/main">
              <a:ext uri="{FF2B5EF4-FFF2-40B4-BE49-F238E27FC236}">
                <a16:creationId xmlns:a16="http://schemas.microsoft.com/office/drawing/2014/main" id="{13064D5D-CEF3-4177-9A8B-3F688735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H2  EVIDENCE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evidence.json</a:t>
            </a:r>
          </a:p>
        </p:txBody>
      </p:sp>
      <p:sp>
        <p:nvSpPr>
          <p:cNvPr id="46" name="role-2">
            <a:extLst xmlns:a="http://schemas.openxmlformats.org/drawingml/2006/main">
              <a:ext uri="{FF2B5EF4-FFF2-40B4-BE49-F238E27FC236}">
                <a16:creationId xmlns:a16="http://schemas.microsoft.com/office/drawing/2014/main" id="{D9EDCFAE-DEDF-4BD6-BF8D-28807288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H3  RCA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hypothesis</a:t>
            </a:r>
          </a:p>
        </p:txBody>
      </p:sp>
      <p:sp>
        <p:nvSpPr>
          <p:cNvPr id="47" name="role-3">
            <a:extLst xmlns:a="http://schemas.openxmlformats.org/drawingml/2006/main">
              <a:ext uri="{FF2B5EF4-FFF2-40B4-BE49-F238E27FC236}">
                <a16:creationId xmlns:a16="http://schemas.microsoft.com/office/drawing/2014/main" id="{1489CCE6-D631-45F7-B8F2-FBC501B6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H4  PLAN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plan.json</a:t>
            </a:r>
          </a:p>
        </p:txBody>
      </p:sp>
      <p:sp>
        <p:nvSpPr>
          <p:cNvPr id="48" name="role-4">
            <a:extLst xmlns:a="http://schemas.openxmlformats.org/drawingml/2006/main">
              <a:ext uri="{FF2B5EF4-FFF2-40B4-BE49-F238E27FC236}">
                <a16:creationId xmlns:a16="http://schemas.microsoft.com/office/drawing/2014/main" id="{9345F1F7-68D9-4E3A-AE63-0ACB908B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H5  EXECUTE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approval + 五件套</a:t>
            </a:r>
          </a:p>
        </p:txBody>
      </p:sp>
      <p:sp>
        <p:nvSpPr>
          <p:cNvPr id="49" name="role-5">
            <a:extLst xmlns:a="http://schemas.openxmlformats.org/drawingml/2006/main">
              <a:ext uri="{FF2B5EF4-FFF2-40B4-BE49-F238E27FC236}">
                <a16:creationId xmlns:a16="http://schemas.microsoft.com/office/drawing/2014/main" id="{9604E0B5-A3A3-43B1-A161-033B493F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33625"/>
            <a:ext cx="15716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H6  VERIFY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verification + final</a:t>
            </a:r>
          </a:p>
        </p:txBody>
      </p:sp>
      <p:sp>
        <p:nvSpPr>
          <p:cNvPr id="50" name="handoff-proof">
            <a:extLst xmlns:a="http://schemas.openxmlformats.org/drawingml/2006/main">
              <a:ext uri="{FF2B5EF4-FFF2-40B4-BE49-F238E27FC236}">
                <a16:creationId xmlns:a16="http://schemas.microsoft.com/office/drawing/2014/main" id="{B417C9F3-F249-42CA-AB5E-8ECEAB28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rPr>
              <a:t>AT-004：6 次角色交接 + 1 次人工审批 + 权威 Trace 7 entries</a:t>
            </a:r>
          </a:p>
        </p:txBody>
      </p:sp>
      <p:sp>
        <p:nvSpPr>
          <p:cNvPr id="51" name="failure-branch">
            <a:extLst xmlns:a="http://schemas.openxmlformats.org/drawingml/2006/main">
              <a:ext uri="{FF2B5EF4-FFF2-40B4-BE49-F238E27FC236}">
                <a16:creationId xmlns:a16="http://schemas.microsoft.com/office/drawing/2014/main" id="{3E41A857-B981-4C83-AF1E-93D5D9FA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52950"/>
            <a:ext cx="3810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F0C3C3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Matrix：事件与顺序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MinIO：共享 Artifact</a:t>
            </a:r>
          </a:p>
        </p:txBody>
      </p:sp>
      <p:sp>
        <p:nvSpPr>
          <p:cNvPr id="52" name="closure-branch">
            <a:extLst xmlns:a="http://schemas.openxmlformats.org/drawingml/2006/main">
              <a:ext uri="{FF2B5EF4-FFF2-40B4-BE49-F238E27FC236}">
                <a16:creationId xmlns:a16="http://schemas.microsoft.com/office/drawing/2014/main" id="{0DCBB283-3AB3-4664-A4E6-8E7C2495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52950"/>
            <a:ext cx="3810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EF9F4"/>
          </a:solidFill>
          <a:ln xmlns:a="http://schemas.openxmlformats.org/drawingml/2006/main" w="9525">
            <a:solidFill>
              <a:srgbClr val="B8E7D2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ZIP：便携复核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Dashboard：只读投影</a:t>
            </a:r>
          </a:p>
        </p:txBody>
      </p:sp>
    </p:spTree>
    <p:extLst>
      <p:ext uri="{BB962C8B-B14F-4D97-AF65-F5344CB8AC3E}">
        <p14:creationId xmlns:p14="http://schemas.microsoft.com/office/powerpoint/2010/main" val="19669355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954F6F5-E940-4EAB-968D-6CAD50E2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04 · Skill（必选）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B9E4242-38E1-42A7-81AE-68162110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Skill 不是提示词，而是可校验能力合同</a:t>
            </a:r>
            <a:endParaRPr sz="2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5DB276A-F532-4505-B423-D2A6ECBD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88BA9B5-1EAE-4156-901D-BA9E715A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  <a:endParaRPr sz="15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D903EFBA-1EC9-4771-86E2-92145823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每个 Skill 都写明用途、I/O、调用条件、依赖工具、失败处理、安全边界和复用方式。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A6F765-235A-479C-84D3-B8BD5320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02895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03C272-126D-44D8-BF39-3DC16FBA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2895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B0CDF9-76F5-4AAE-B45F-41431BD9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2895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DE07BD-0B55-48FD-B2E5-C11C74D8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2895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3" name="skill-0">
            <a:extLst xmlns:a="http://schemas.openxmlformats.org/drawingml/2006/main">
              <a:ext uri="{FF2B5EF4-FFF2-40B4-BE49-F238E27FC236}">
                <a16:creationId xmlns:a16="http://schemas.microsoft.com/office/drawing/2014/main" id="{C964DBD8-C07C-4BB2-BB87-DB6E54B3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133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Collect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EVIDENCE</a:t>
            </a:r>
          </a:p>
        </p:txBody>
      </p:sp>
      <p:sp>
        <p:nvSpPr>
          <p:cNvPr id="44" name="skill-1">
            <a:extLst xmlns:a="http://schemas.openxmlformats.org/drawingml/2006/main">
              <a:ext uri="{FF2B5EF4-FFF2-40B4-BE49-F238E27FC236}">
                <a16:creationId xmlns:a16="http://schemas.microsoft.com/office/drawing/2014/main" id="{359D708B-8CAF-46BF-8CEF-7E5226CB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71750"/>
            <a:ext cx="133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Diagnose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RCA</a:t>
            </a:r>
          </a:p>
        </p:txBody>
      </p:sp>
      <p:sp>
        <p:nvSpPr>
          <p:cNvPr id="45" name="skill-2">
            <a:extLst xmlns:a="http://schemas.openxmlformats.org/drawingml/2006/main">
              <a:ext uri="{FF2B5EF4-FFF2-40B4-BE49-F238E27FC236}">
                <a16:creationId xmlns:a16="http://schemas.microsoft.com/office/drawing/2014/main" id="{EF23F681-CF83-4B32-9AB9-6D4E742E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71750"/>
            <a:ext cx="133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Plan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PLAN</a:t>
            </a:r>
          </a:p>
        </p:txBody>
      </p:sp>
      <p:sp>
        <p:nvSpPr>
          <p:cNvPr id="46" name="skill-3">
            <a:extLst xmlns:a="http://schemas.openxmlformats.org/drawingml/2006/main">
              <a:ext uri="{FF2B5EF4-FFF2-40B4-BE49-F238E27FC236}">
                <a16:creationId xmlns:a16="http://schemas.microsoft.com/office/drawing/2014/main" id="{080F0E7F-5048-4EDE-8656-E864012B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133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Control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RUN</a:t>
            </a:r>
          </a:p>
        </p:txBody>
      </p:sp>
      <p:sp>
        <p:nvSpPr>
          <p:cNvPr id="47" name="skill-4">
            <a:extLst xmlns:a="http://schemas.openxmlformats.org/drawingml/2006/main">
              <a:ext uri="{FF2B5EF4-FFF2-40B4-BE49-F238E27FC236}">
                <a16:creationId xmlns:a16="http://schemas.microsoft.com/office/drawing/2014/main" id="{E1FE28AF-57C2-4864-933C-4D7A98E4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71750"/>
            <a:ext cx="133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Verify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DECISION</a:t>
            </a:r>
          </a:p>
        </p:txBody>
      </p:sp>
      <p:sp>
        <p:nvSpPr>
          <p:cNvPr id="48" name="schema-rail">
            <a:extLst xmlns:a="http://schemas.openxmlformats.org/drawingml/2006/main">
              <a:ext uri="{FF2B5EF4-FFF2-40B4-BE49-F238E27FC236}">
                <a16:creationId xmlns:a16="http://schemas.microsoft.com/office/drawing/2014/main" id="{81CA4F4B-2A94-47EB-9B10-C42FB2B7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0050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rPr>
              <a:t>schema_version · skill_version · lifecycle · structured errors · fail closed</a:t>
            </a:r>
          </a:p>
        </p:txBody>
      </p:sp>
      <p:sp>
        <p:nvSpPr>
          <p:cNvPr id="49" name="pack-memory">
            <a:extLst xmlns:a="http://schemas.openxmlformats.org/drawingml/2006/main">
              <a:ext uri="{FF2B5EF4-FFF2-40B4-BE49-F238E27FC236}">
                <a16:creationId xmlns:a16="http://schemas.microsoft.com/office/drawing/2014/main" id="{2D348C02-BC1F-411E-8E61-87B67E56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10125"/>
            <a:ext cx="60960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1EC"/>
          </a:solidFill>
          <a:ln xmlns:a="http://schemas.openxmlformats.org/drawingml/2006/main" w="9525">
            <a:solidFill>
              <a:srgbClr val="FFC2AD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官方必备字段逐项落在 SKILL.md 与 io-schema.json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能力可跨 Agent、跨仓库复用，不绑定 Demo 绝对路径。</a:t>
            </a:r>
          </a:p>
        </p:txBody>
      </p:sp>
    </p:spTree>
    <p:extLst>
      <p:ext uri="{BB962C8B-B14F-4D97-AF65-F5344CB8AC3E}">
        <p14:creationId xmlns:p14="http://schemas.microsoft.com/office/powerpoint/2010/main" val="8724018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954F6F5-E940-4EAB-968D-6CAD50E2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04 · Skill（必选）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B9E4242-38E1-42A7-81AE-68162110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7 个 Skill 包覆盖六角色完整闭环</a:t>
            </a:r>
            <a:endParaRPr sz="2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5DB276A-F532-4505-B423-D2A6ECBD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88BA9B5-1EAE-4156-901D-BA9E715A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  <a:endParaRPr sz="15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D903EFBA-1EC9-4771-86E2-92145823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五个任务 Skill 走主流程；Commander 负责打包证据与发布案例记忆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A6F765-235A-479C-84D3-B8BD5320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02895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03C272-126D-44D8-BF39-3DC16FBA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2895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B0CDF9-76F5-4AAE-B45F-41431BD9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2895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DE07BD-0B55-48FD-B2E5-C11C74D8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2895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3" name="skill-0">
            <a:extLst xmlns:a="http://schemas.openxmlformats.org/drawingml/2006/main">
              <a:ext uri="{FF2B5EF4-FFF2-40B4-BE49-F238E27FC236}">
                <a16:creationId xmlns:a16="http://schemas.microsoft.com/office/drawing/2014/main" id="{C964DBD8-C07C-4BB2-BB87-DB6E54B3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133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collect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Evidence</a:t>
            </a:r>
          </a:p>
        </p:txBody>
      </p:sp>
      <p:sp>
        <p:nvSpPr>
          <p:cNvPr id="44" name="skill-1">
            <a:extLst xmlns:a="http://schemas.openxmlformats.org/drawingml/2006/main">
              <a:ext uri="{FF2B5EF4-FFF2-40B4-BE49-F238E27FC236}">
                <a16:creationId xmlns:a16="http://schemas.microsoft.com/office/drawing/2014/main" id="{359D708B-8CAF-46BF-8CEF-7E5226CB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71750"/>
            <a:ext cx="133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diagnose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Incident</a:t>
            </a:r>
          </a:p>
        </p:txBody>
      </p:sp>
      <p:sp>
        <p:nvSpPr>
          <p:cNvPr id="45" name="skill-2">
            <a:extLst xmlns:a="http://schemas.openxmlformats.org/drawingml/2006/main">
              <a:ext uri="{FF2B5EF4-FFF2-40B4-BE49-F238E27FC236}">
                <a16:creationId xmlns:a16="http://schemas.microsoft.com/office/drawing/2014/main" id="{EF23F681-CF83-4B32-9AB9-6D4E742E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71750"/>
            <a:ext cx="133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plan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Exp.</a:t>
            </a:r>
          </a:p>
        </p:txBody>
      </p:sp>
      <p:sp>
        <p:nvSpPr>
          <p:cNvPr id="46" name="skill-3">
            <a:extLst xmlns:a="http://schemas.openxmlformats.org/drawingml/2006/main">
              <a:ext uri="{FF2B5EF4-FFF2-40B4-BE49-F238E27FC236}">
                <a16:creationId xmlns:a16="http://schemas.microsoft.com/office/drawing/2014/main" id="{080F0E7F-5048-4EDE-8656-E864012B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133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control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Action</a:t>
            </a:r>
          </a:p>
        </p:txBody>
      </p:sp>
      <p:sp>
        <p:nvSpPr>
          <p:cNvPr id="47" name="skill-4">
            <a:extLst xmlns:a="http://schemas.openxmlformats.org/drawingml/2006/main">
              <a:ext uri="{FF2B5EF4-FFF2-40B4-BE49-F238E27FC236}">
                <a16:creationId xmlns:a16="http://schemas.microsoft.com/office/drawing/2014/main" id="{E1FE28AF-57C2-4864-933C-4D7A98E4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71750"/>
            <a:ext cx="133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verify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Result</a:t>
            </a:r>
          </a:p>
        </p:txBody>
      </p:sp>
      <p:sp>
        <p:nvSpPr>
          <p:cNvPr id="48" name="schema-rail">
            <a:extLst xmlns:a="http://schemas.openxmlformats.org/drawingml/2006/main">
              <a:ext uri="{FF2B5EF4-FFF2-40B4-BE49-F238E27FC236}">
                <a16:creationId xmlns:a16="http://schemas.microsoft.com/office/drawing/2014/main" id="{81CA4F4B-2A94-47EB-9B10-C42FB2B7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0050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rPr>
              <a:t>Commander：pack-lab-evidence + publish-case-memory</a:t>
            </a:r>
          </a:p>
        </p:txBody>
      </p:sp>
      <p:sp>
        <p:nvSpPr>
          <p:cNvPr id="49" name="pack-memory">
            <a:extLst xmlns:a="http://schemas.openxmlformats.org/drawingml/2006/main">
              <a:ext uri="{FF2B5EF4-FFF2-40B4-BE49-F238E27FC236}">
                <a16:creationId xmlns:a16="http://schemas.microsoft.com/office/drawing/2014/main" id="{2D348C02-BC1F-411E-8E61-87B67E56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10125"/>
            <a:ext cx="60960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1EC"/>
          </a:solidFill>
          <a:ln xmlns:a="http://schemas.openxmlformats.org/drawingml/2006/main" w="9525">
            <a:solidFill>
              <a:srgbClr val="FFC2AD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0.2.0 · references/io-schema.json · agents/openai.yaml · CHANGELOG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失败返回结构化错误；不会静默扩权或跳过状态机。</a:t>
            </a:r>
          </a:p>
        </p:txBody>
      </p:sp>
    </p:spTree>
    <p:extLst>
      <p:ext uri="{BB962C8B-B14F-4D97-AF65-F5344CB8AC3E}">
        <p14:creationId xmlns:p14="http://schemas.microsoft.com/office/powerpoint/2010/main" val="8724018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954F6F5-E940-4EAB-968D-6CAD50E2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04 · Skill（必选）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B9E4242-38E1-42A7-81AE-68162110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control-lab-action：Skill Contract 实例</a:t>
            </a:r>
            <a:endParaRPr sz="2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5DB276A-F532-4505-B423-D2A6ECBD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88BA9B5-1EAE-4156-901D-BA9E715A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  <a:endParaRPr sz="15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D903EFBA-1EC9-4771-86E2-92145823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输入 ExperimentPlan + Approval；调用前核对策略、审批时序和能力；输出 Runner 五件套。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A6F765-235A-479C-84D3-B8BD5320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02895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03C272-126D-44D8-BF39-3DC16FBA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2895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B0CDF9-76F5-4AAE-B45F-41431BD9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2895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DE07BD-0B55-48FD-B2E5-C11C74D8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28950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3" name="skill-0">
            <a:extLst xmlns:a="http://schemas.openxmlformats.org/drawingml/2006/main">
              <a:ext uri="{FF2B5EF4-FFF2-40B4-BE49-F238E27FC236}">
                <a16:creationId xmlns:a16="http://schemas.microsoft.com/office/drawing/2014/main" id="{C964DBD8-C07C-4BB2-BB87-DB6E54B3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133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Input
Plan + Approval</a:t>
            </a:r>
          </a:p>
        </p:txBody>
      </p:sp>
      <p:sp>
        <p:nvSpPr>
          <p:cNvPr id="44" name="skill-1">
            <a:extLst xmlns:a="http://schemas.openxmlformats.org/drawingml/2006/main">
              <a:ext uri="{FF2B5EF4-FFF2-40B4-BE49-F238E27FC236}">
                <a16:creationId xmlns:a16="http://schemas.microsoft.com/office/drawing/2014/main" id="{359D708B-8CAF-46BF-8CEF-7E5226CB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71750"/>
            <a:ext cx="133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Condition
policy + timing</a:t>
            </a:r>
          </a:p>
        </p:txBody>
      </p:sp>
      <p:sp>
        <p:nvSpPr>
          <p:cNvPr id="45" name="skill-2">
            <a:extLst xmlns:a="http://schemas.openxmlformats.org/drawingml/2006/main">
              <a:ext uri="{FF2B5EF4-FFF2-40B4-BE49-F238E27FC236}">
                <a16:creationId xmlns:a16="http://schemas.microsoft.com/office/drawing/2014/main" id="{EF23F681-CF83-4B32-9AB9-6D4E742E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71750"/>
            <a:ext cx="133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Output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Runner 五件套</a:t>
            </a:r>
          </a:p>
        </p:txBody>
      </p:sp>
      <p:sp>
        <p:nvSpPr>
          <p:cNvPr id="46" name="skill-3">
            <a:extLst xmlns:a="http://schemas.openxmlformats.org/drawingml/2006/main">
              <a:ext uri="{FF2B5EF4-FFF2-40B4-BE49-F238E27FC236}">
                <a16:creationId xmlns:a16="http://schemas.microsoft.com/office/drawing/2014/main" id="{080F0E7F-5048-4EDE-8656-E864012B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133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Failure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BLOCKED / ROLLBACK</a:t>
            </a:r>
          </a:p>
        </p:txBody>
      </p:sp>
      <p:sp>
        <p:nvSpPr>
          <p:cNvPr id="47" name="skill-4">
            <a:extLst xmlns:a="http://schemas.openxmlformats.org/drawingml/2006/main">
              <a:ext uri="{FF2B5EF4-FFF2-40B4-BE49-F238E27FC236}">
                <a16:creationId xmlns:a16="http://schemas.microsoft.com/office/drawing/2014/main" id="{E1FE28AF-57C2-4864-933C-4D7A98E4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71750"/>
            <a:ext cx="1333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1F5FF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93958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Reuse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训练 / 评测 / 数据 / 发布</a:t>
            </a:r>
          </a:p>
        </p:txBody>
      </p:sp>
      <p:sp>
        <p:nvSpPr>
          <p:cNvPr id="48" name="schema-rail">
            <a:extLst xmlns:a="http://schemas.openxmlformats.org/drawingml/2006/main">
              <a:ext uri="{FF2B5EF4-FFF2-40B4-BE49-F238E27FC236}">
                <a16:creationId xmlns:a16="http://schemas.microsoft.com/office/drawing/2014/main" id="{81CA4F4B-2A94-47EB-9B10-C42FB2B7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0050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rPr>
              <a:t>SKILL.md + io-schema.json + openai.yaml + skill_version + CHANGELOG</a:t>
            </a:r>
          </a:p>
        </p:txBody>
      </p:sp>
      <p:sp>
        <p:nvSpPr>
          <p:cNvPr id="49" name="pack-memory">
            <a:extLst xmlns:a="http://schemas.openxmlformats.org/drawingml/2006/main">
              <a:ext uri="{FF2B5EF4-FFF2-40B4-BE49-F238E27FC236}">
                <a16:creationId xmlns:a16="http://schemas.microsoft.com/office/drawing/2014/main" id="{2D348C02-BC1F-411E-8E61-87B67E56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10125"/>
            <a:ext cx="60960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1EC"/>
          </a:solidFill>
          <a:ln xmlns:a="http://schemas.openxmlformats.org/drawingml/2006/main" w="9525">
            <a:solidFill>
              <a:srgbClr val="FFC2AD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Security：command allowlist · network=none · sandbox-only；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protected paths immutable · 训练 / 评测 / 数据 / 发布复用。</a:t>
            </a:r>
          </a:p>
        </p:txBody>
      </p:sp>
    </p:spTree>
    <p:extLst>
      <p:ext uri="{BB962C8B-B14F-4D97-AF65-F5344CB8AC3E}">
        <p14:creationId xmlns:p14="http://schemas.microsoft.com/office/powerpoint/2010/main" val="8724018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5FA0B99-C595-454C-B8E4-6ACF968A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05 · 工程落地与安全审计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3FA62AE-94CF-4E03-8297-5AFD73D0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Safe Executor 只下计划，Runner 承担执行</a:t>
            </a:r>
            <a:endParaRPr sz="29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B4A38BB7-9BCF-44D6-A187-2A3D28E4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Worker 只提交结构化计划；宿主 Gateway 校验后启动一次性、断网、只读输入的 CPU 容器。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C0EA7A9D-B7BA-464C-B953-668E493C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478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rPr>
              <a:t>职责隔离</a:t>
            </a:r>
          </a:p>
        </p:txBody>
      </p:sp>
      <p:sp>
        <p:nvSpPr>
          <p:cNvPr id="40" name="metric-before">
            <a:extLst xmlns:a="http://schemas.openxmlformats.org/drawingml/2006/main">
              <a:ext uri="{FF2B5EF4-FFF2-40B4-BE49-F238E27FC236}">
                <a16:creationId xmlns:a16="http://schemas.microsoft.com/office/drawing/2014/main" id="{E8CA4102-5057-4627-AE02-3ED0F5A1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C44747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C44747"/>
                </a:solidFill>
                <a:latin typeface="微软雅黑"/>
                <a:ea typeface="微软雅黑"/>
                <a:cs typeface="微软雅黑"/>
              </a:rPr>
              <a:t>Worker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954D69-2321-495C-A10F-7CC14F61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81275"/>
            <a:ext cx="666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2" name="metric-after">
            <a:extLst xmlns:a="http://schemas.openxmlformats.org/drawingml/2006/main">
              <a:ext uri="{FF2B5EF4-FFF2-40B4-BE49-F238E27FC236}">
                <a16:creationId xmlns:a16="http://schemas.microsoft.com/office/drawing/2014/main" id="{F7484D78-44A6-4514-99DD-C8220C4B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Runner</a:t>
            </a:r>
          </a:p>
        </p:txBody>
      </p:sp>
      <p:sp>
        <p:nvSpPr>
          <p:cNvPr id="43" name="metric-note">
            <a:extLst xmlns:a="http://schemas.openxmlformats.org/drawingml/2006/main">
              <a:ext uri="{FF2B5EF4-FFF2-40B4-BE49-F238E27FC236}">
                <a16:creationId xmlns:a16="http://schemas.microsoft.com/office/drawing/2014/main" id="{6F70C3DA-50DD-49D8-AB58-FE76E587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600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C647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C647A"/>
                </a:solidFill>
                <a:latin typeface="微软雅黑"/>
                <a:ea typeface="微软雅黑"/>
                <a:cs typeface="微软雅黑"/>
              </a:rPr>
              <a:t>plan + approval  →  Gateway allowlist  →  ephemeral container</a:t>
            </a:r>
          </a:p>
        </p:txBody>
      </p:sp>
      <p:sp>
        <p:nvSpPr>
          <p:cNvPr id="44" name="metric-exact">
            <a:extLst xmlns:a="http://schemas.openxmlformats.org/drawingml/2006/main">
              <a:ext uri="{FF2B5EF4-FFF2-40B4-BE49-F238E27FC236}">
                <a16:creationId xmlns:a16="http://schemas.microsoft.com/office/drawing/2014/main" id="{1455E046-F643-4AF9-B378-33864796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7291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labops/pytorch-cpu-runner:0.2.0 · Python 3.11.15 · Torch 2.5.1+cpu</a:t>
            </a:r>
          </a:p>
        </p:txBody>
      </p:sp>
      <p:sp>
        <p:nvSpPr>
          <p:cNvPr id="45" name="approval-proof">
            <a:extLst xmlns:a="http://schemas.openxmlformats.org/drawingml/2006/main">
              <a:ext uri="{FF2B5EF4-FFF2-40B4-BE49-F238E27FC236}">
                <a16:creationId xmlns:a16="http://schemas.microsoft.com/office/drawing/2014/main" id="{7D90C69F-BCE5-4AC7-BA36-456A0FE6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95500"/>
            <a:ext cx="2762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1EC"/>
          </a:solidFill>
          <a:ln xmlns:a="http://schemas.openxmlformats.org/drawingml/2006/main" w="9525">
            <a:solidFill>
              <a:srgbClr val="FFC2AD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Gateway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固定 task / incident / run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image + command 白名单</a:t>
            </a:r>
          </a:p>
        </p:txBody>
      </p:sp>
      <p:sp>
        <p:nvSpPr>
          <p:cNvPr id="46" name="integrity-proof">
            <a:extLst xmlns:a="http://schemas.openxmlformats.org/drawingml/2006/main">
              <a:ext uri="{FF2B5EF4-FFF2-40B4-BE49-F238E27FC236}">
                <a16:creationId xmlns:a16="http://schemas.microsoft.com/office/drawing/2014/main" id="{F3FFB7BC-0B0D-4439-91EB-A65690B8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1F4FC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只读输入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project / run 挂载只读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仅 output 与 tmp 可写</a:t>
            </a:r>
          </a:p>
        </p:txBody>
      </p:sp>
      <p:sp>
        <p:nvSpPr>
          <p:cNvPr id="47" name="runtime-proof">
            <a:extLst xmlns:a="http://schemas.openxmlformats.org/drawingml/2006/main">
              <a:ext uri="{FF2B5EF4-FFF2-40B4-BE49-F238E27FC236}">
                <a16:creationId xmlns:a16="http://schemas.microsoft.com/office/drawing/2014/main" id="{F6A48A44-AD4A-426F-BC2B-BC00A984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1F4FC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运行边界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CPU · non-root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network=none</a:t>
            </a:r>
          </a:p>
        </p:txBody>
      </p:sp>
      <p:sp>
        <p:nvSpPr>
          <p:cNvPr id="48" name="trace-proof">
            <a:extLst xmlns:a="http://schemas.openxmlformats.org/drawingml/2006/main">
              <a:ext uri="{FF2B5EF4-FFF2-40B4-BE49-F238E27FC236}">
                <a16:creationId xmlns:a16="http://schemas.microsoft.com/office/drawing/2014/main" id="{288C2183-A39E-4837-B7B2-7636DA49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CF9F3"/>
          </a:solidFill>
          <a:ln xmlns:a="http://schemas.openxmlformats.org/drawingml/2006/main" w="9525">
            <a:solidFill>
              <a:srgbClr val="B8E7D2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五件套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run_result / metrics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stdout / stderr / manifest</a:t>
            </a:r>
          </a:p>
        </p:txBody>
      </p:sp>
      <p:sp>
        <p:nvSpPr>
          <p:cNvPr id="49" name="final-decision">
            <a:extLst xmlns:a="http://schemas.openxmlformats.org/drawingml/2006/main">
              <a:ext uri="{FF2B5EF4-FFF2-40B4-BE49-F238E27FC236}">
                <a16:creationId xmlns:a16="http://schemas.microsoft.com/office/drawing/2014/main" id="{A2BEB1CE-D160-4C6B-9FB0-6836E059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72125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9017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无 API Key · 无 Token · 不在线安装依赖 · 不修改原始工作区</a:t>
            </a:r>
          </a:p>
        </p:txBody>
      </p:sp>
    </p:spTree>
    <p:extLst>
      <p:ext uri="{BB962C8B-B14F-4D97-AF65-F5344CB8AC3E}">
        <p14:creationId xmlns:p14="http://schemas.microsoft.com/office/powerpoint/2010/main" val="62701562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5FA0B99-C595-454C-B8E4-6ACF968A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05 · 工程落地与安全审计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3FA62AE-94CF-4E03-8297-5AFD73D0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先查能力，再跑实验</a:t>
            </a:r>
            <a:endParaRPr sz="29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B4A38BB7-9BCF-44D6-A187-2A3D28E4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宿主先核对固定镜像与计划策略；容器内再核对 Python、Torch、路径、资源和单变量变更。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C0EA7A9D-B7BA-464C-B953-668E493C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478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rPr>
              <a:t>双层能力检查</a:t>
            </a:r>
          </a:p>
        </p:txBody>
      </p:sp>
      <p:sp>
        <p:nvSpPr>
          <p:cNvPr id="40" name="metric-before">
            <a:extLst xmlns:a="http://schemas.openxmlformats.org/drawingml/2006/main">
              <a:ext uri="{FF2B5EF4-FFF2-40B4-BE49-F238E27FC236}">
                <a16:creationId xmlns:a16="http://schemas.microsoft.com/office/drawing/2014/main" id="{E8CA4102-5057-4627-AE02-3ED0F5A1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C44747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C44747"/>
                </a:solidFill>
                <a:latin typeface="微软雅黑"/>
                <a:ea typeface="微软雅黑"/>
                <a:cs typeface="微软雅黑"/>
              </a:rPr>
              <a:t>8 / 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954D69-2321-495C-A10F-7CC14F61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81275"/>
            <a:ext cx="666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2" name="metric-after">
            <a:extLst xmlns:a="http://schemas.openxmlformats.org/drawingml/2006/main">
              <a:ext uri="{FF2B5EF4-FFF2-40B4-BE49-F238E27FC236}">
                <a16:creationId xmlns:a16="http://schemas.microsoft.com/office/drawing/2014/main" id="{F7484D78-44A6-4514-99DD-C8220C4B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10 / 10</a:t>
            </a:r>
          </a:p>
        </p:txBody>
      </p:sp>
      <p:sp>
        <p:nvSpPr>
          <p:cNvPr id="43" name="metric-note">
            <a:extLst xmlns:a="http://schemas.openxmlformats.org/drawingml/2006/main">
              <a:ext uri="{FF2B5EF4-FFF2-40B4-BE49-F238E27FC236}">
                <a16:creationId xmlns:a16="http://schemas.microsoft.com/office/drawing/2014/main" id="{6F70C3DA-50DD-49D8-AB58-FE76E587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600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C647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C647A"/>
                </a:solidFill>
                <a:latin typeface="微软雅黑"/>
                <a:ea typeface="微软雅黑"/>
                <a:cs typeface="微软雅黑"/>
              </a:rPr>
              <a:t>host policy checks                 in-run capability checks</a:t>
            </a:r>
          </a:p>
        </p:txBody>
      </p:sp>
      <p:sp>
        <p:nvSpPr>
          <p:cNvPr id="44" name="metric-exact">
            <a:extLst xmlns:a="http://schemas.openxmlformats.org/drawingml/2006/main">
              <a:ext uri="{FF2B5EF4-FFF2-40B4-BE49-F238E27FC236}">
                <a16:creationId xmlns:a16="http://schemas.microsoft.com/office/drawing/2014/main" id="{1455E046-F643-4AF9-B378-33864796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7291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先验失败即 BLOCKED；不会在 Worker 或实验运行时在线安装依赖</a:t>
            </a:r>
          </a:p>
        </p:txBody>
      </p:sp>
      <p:sp>
        <p:nvSpPr>
          <p:cNvPr id="45" name="approval-proof">
            <a:extLst xmlns:a="http://schemas.openxmlformats.org/drawingml/2006/main">
              <a:ext uri="{FF2B5EF4-FFF2-40B4-BE49-F238E27FC236}">
                <a16:creationId xmlns:a16="http://schemas.microsoft.com/office/drawing/2014/main" id="{7D90C69F-BCE5-4AC7-BA36-456A0FE6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95500"/>
            <a:ext cx="2762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1EC"/>
          </a:solidFill>
          <a:ln xmlns:a="http://schemas.openxmlformats.org/drawingml/2006/main" w="9525">
            <a:solidFill>
              <a:srgbClr val="FFC2AD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镜像与运行时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image / Python / Torch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CPU · CUDA=false</a:t>
            </a:r>
          </a:p>
        </p:txBody>
      </p:sp>
      <p:sp>
        <p:nvSpPr>
          <p:cNvPr id="46" name="integrity-proof">
            <a:extLst xmlns:a="http://schemas.openxmlformats.org/drawingml/2006/main">
              <a:ext uri="{FF2B5EF4-FFF2-40B4-BE49-F238E27FC236}">
                <a16:creationId xmlns:a16="http://schemas.microsoft.com/office/drawing/2014/main" id="{F3FFB7BC-0B0D-4439-91EB-A65690B8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1F4FC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输入与路径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checkpoint / config / paths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全部受边界约束</a:t>
            </a:r>
          </a:p>
        </p:txBody>
      </p:sp>
      <p:sp>
        <p:nvSpPr>
          <p:cNvPr id="47" name="runtime-proof">
            <a:extLst xmlns:a="http://schemas.openxmlformats.org/drawingml/2006/main">
              <a:ext uri="{FF2B5EF4-FFF2-40B4-BE49-F238E27FC236}">
                <a16:creationId xmlns:a16="http://schemas.microsoft.com/office/drawing/2014/main" id="{F6A48A44-AD4A-426F-BC2B-BC00A984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1F4FC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预算与命令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network=false · ≤30s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command allowlist</a:t>
            </a:r>
          </a:p>
        </p:txBody>
      </p:sp>
      <p:sp>
        <p:nvSpPr>
          <p:cNvPr id="48" name="trace-proof">
            <a:extLst xmlns:a="http://schemas.openxmlformats.org/drawingml/2006/main">
              <a:ext uri="{FF2B5EF4-FFF2-40B4-BE49-F238E27FC236}">
                <a16:creationId xmlns:a16="http://schemas.microsoft.com/office/drawing/2014/main" id="{288C2183-A39E-4837-B7B2-7636DA49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CF9F3"/>
          </a:solidFill>
          <a:ln xmlns:a="http://schemas.openxmlformats.org/drawingml/2006/main" w="9525">
            <a:solidFill>
              <a:srgbClr val="B8E7D2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变更与凭据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单一批准字段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no credentials</a:t>
            </a:r>
          </a:p>
        </p:txBody>
      </p:sp>
      <p:sp>
        <p:nvSpPr>
          <p:cNvPr id="49" name="final-decision">
            <a:extLst xmlns:a="http://schemas.openxmlformats.org/drawingml/2006/main">
              <a:ext uri="{FF2B5EF4-FFF2-40B4-BE49-F238E27FC236}">
                <a16:creationId xmlns:a16="http://schemas.microsoft.com/office/drawing/2014/main" id="{A2BEB1CE-D160-4C6B-9FB0-6836E059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72125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9106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AT-004 两层检查均 PASS；APPROVED 时间早于 run start</a:t>
            </a:r>
          </a:p>
        </p:txBody>
      </p:sp>
    </p:spTree>
    <p:extLst>
      <p:ext uri="{BB962C8B-B14F-4D97-AF65-F5344CB8AC3E}">
        <p14:creationId xmlns:p14="http://schemas.microsoft.com/office/powerpoint/2010/main" val="6270156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5FA0B99-C595-454C-B8E4-6ACF968A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05 · 工程落地与安全审计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3FA62AE-94CF-4E03-8297-5AFD73D0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证据互证，Dashboard 只读</a:t>
            </a:r>
            <a:endParaRPr sz="29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B4A38BB7-9BCF-44D6-A187-2A3D28E4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Matrix 记录角色事件，MinIO 与证据 ZIP 保存原始产物；仪表盘重新计算完整性但无权改状态。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C0EA7A9D-B7BA-464C-B953-668E493C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478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rPr>
              <a:t>权威载体</a:t>
            </a:r>
          </a:p>
        </p:txBody>
      </p:sp>
      <p:sp>
        <p:nvSpPr>
          <p:cNvPr id="40" name="metric-before">
            <a:extLst xmlns:a="http://schemas.openxmlformats.org/drawingml/2006/main">
              <a:ext uri="{FF2B5EF4-FFF2-40B4-BE49-F238E27FC236}">
                <a16:creationId xmlns:a16="http://schemas.microsoft.com/office/drawing/2014/main" id="{E8CA4102-5057-4627-AE02-3ED0F5A1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C44747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C44747"/>
                </a:solidFill>
                <a:latin typeface="微软雅黑"/>
                <a:ea typeface="微软雅黑"/>
                <a:cs typeface="微软雅黑"/>
              </a:rPr>
              <a:t>Trace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954D69-2321-495C-A10F-7CC14F61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81275"/>
            <a:ext cx="666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2" name="metric-after">
            <a:extLst xmlns:a="http://schemas.openxmlformats.org/drawingml/2006/main">
              <a:ext uri="{FF2B5EF4-FFF2-40B4-BE49-F238E27FC236}">
                <a16:creationId xmlns:a16="http://schemas.microsoft.com/office/drawing/2014/main" id="{F7484D78-44A6-4514-99DD-C8220C4B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Artifact</a:t>
            </a:r>
          </a:p>
        </p:txBody>
      </p:sp>
      <p:sp>
        <p:nvSpPr>
          <p:cNvPr id="43" name="metric-note">
            <a:extLst xmlns:a="http://schemas.openxmlformats.org/drawingml/2006/main">
              <a:ext uri="{FF2B5EF4-FFF2-40B4-BE49-F238E27FC236}">
                <a16:creationId xmlns:a16="http://schemas.microsoft.com/office/drawing/2014/main" id="{6F70C3DA-50DD-49D8-AB58-FE76E587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600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C647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C647A"/>
                </a:solidFill>
                <a:latin typeface="微软雅黑"/>
                <a:ea typeface="微软雅黑"/>
                <a:cs typeface="微软雅黑"/>
              </a:rPr>
              <a:t>Matrix event order              MinIO / evidence ZIP</a:t>
            </a:r>
          </a:p>
        </p:txBody>
      </p:sp>
      <p:sp>
        <p:nvSpPr>
          <p:cNvPr id="44" name="metric-exact">
            <a:extLst xmlns:a="http://schemas.openxmlformats.org/drawingml/2006/main">
              <a:ext uri="{FF2B5EF4-FFF2-40B4-BE49-F238E27FC236}">
                <a16:creationId xmlns:a16="http://schemas.microsoft.com/office/drawing/2014/main" id="{1455E046-F643-4AF9-B378-33864796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7291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Trace · Log · Metrics · Artifact · Approval</a:t>
            </a:r>
          </a:p>
        </p:txBody>
      </p:sp>
      <p:sp>
        <p:nvSpPr>
          <p:cNvPr id="45" name="approval-proof">
            <a:extLst xmlns:a="http://schemas.openxmlformats.org/drawingml/2006/main">
              <a:ext uri="{FF2B5EF4-FFF2-40B4-BE49-F238E27FC236}">
                <a16:creationId xmlns:a16="http://schemas.microsoft.com/office/drawing/2014/main" id="{7D90C69F-BCE5-4AC7-BA36-456A0FE6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95500"/>
            <a:ext cx="2762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1EC"/>
          </a:solidFill>
          <a:ln xmlns:a="http://schemas.openxmlformats.org/drawingml/2006/main" w="9525">
            <a:solidFill>
              <a:srgbClr val="FFC2AD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完整性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两类 SHA-256 链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CHAIN_OK</a:t>
            </a:r>
          </a:p>
        </p:txBody>
      </p:sp>
      <p:sp>
        <p:nvSpPr>
          <p:cNvPr id="46" name="integrity-proof">
            <a:extLst xmlns:a="http://schemas.openxmlformats.org/drawingml/2006/main">
              <a:ext uri="{FF2B5EF4-FFF2-40B4-BE49-F238E27FC236}">
                <a16:creationId xmlns:a16="http://schemas.microsoft.com/office/drawing/2014/main" id="{F3FFB7BC-0B0D-4439-91EB-A65690B8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1F4FC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工具契约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HTTP Gateway + JSON Schema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可迁移至 MCP</a:t>
            </a:r>
          </a:p>
        </p:txBody>
      </p:sp>
      <p:sp>
        <p:nvSpPr>
          <p:cNvPr id="47" name="runtime-proof">
            <a:extLst xmlns:a="http://schemas.openxmlformats.org/drawingml/2006/main">
              <a:ext uri="{FF2B5EF4-FFF2-40B4-BE49-F238E27FC236}">
                <a16:creationId xmlns:a16="http://schemas.microsoft.com/office/drawing/2014/main" id="{F6A48A44-AD4A-426F-BC2B-BC00A984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1F4FC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不用 RAG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case memory + shared state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+ trace（3 项）</a:t>
            </a:r>
          </a:p>
        </p:txBody>
      </p:sp>
      <p:sp>
        <p:nvSpPr>
          <p:cNvPr id="48" name="trace-proof">
            <a:extLst xmlns:a="http://schemas.openxmlformats.org/drawingml/2006/main">
              <a:ext uri="{FF2B5EF4-FFF2-40B4-BE49-F238E27FC236}">
                <a16:creationId xmlns:a16="http://schemas.microsoft.com/office/drawing/2014/main" id="{288C2183-A39E-4837-B7B2-7636DA49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CF9F3"/>
          </a:solidFill>
          <a:ln xmlns:a="http://schemas.openxmlformats.org/drawingml/2006/main" w="9525">
            <a:solidFill>
              <a:srgbClr val="B8E7D2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可观测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当前文件 / Matrix / MinIO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未来只读 OTel Adapter</a:t>
            </a:r>
          </a:p>
        </p:txBody>
      </p:sp>
      <p:sp>
        <p:nvSpPr>
          <p:cNvPr id="49" name="final-decision">
            <a:extLst xmlns:a="http://schemas.openxmlformats.org/drawingml/2006/main">
              <a:ext uri="{FF2B5EF4-FFF2-40B4-BE49-F238E27FC236}">
                <a16:creationId xmlns:a16="http://schemas.microsoft.com/office/drawing/2014/main" id="{A2BEB1CE-D160-4C6B-9FB0-6836E059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72125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不把未来 MCP / OTel / RAG 能力描述为已实现</a:t>
            </a:r>
          </a:p>
        </p:txBody>
      </p:sp>
    </p:spTree>
    <p:extLst>
      <p:ext uri="{BB962C8B-B14F-4D97-AF65-F5344CB8AC3E}">
        <p14:creationId xmlns:p14="http://schemas.microsoft.com/office/powerpoint/2010/main" val="6270156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5FA0B99-C595-454C-B8E4-6ACF968A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06 · Demo 与证据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3FA62AE-94CF-4E03-8297-5AFD73D0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AT-004：从提升到可信</a:t>
            </a:r>
            <a:endParaRPr sz="29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B4A38BB7-9BCF-44D6-A187-2A3D28E4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固定对象、单变量沙箱修复、人工审批、断网 Runner 与独立复算共同构成完成证明。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C0EA7A9D-B7BA-464C-B953-668E493C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478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rPr>
              <a:t>三次独立复算</a:t>
            </a:r>
          </a:p>
        </p:txBody>
      </p:sp>
      <p:sp>
        <p:nvSpPr>
          <p:cNvPr id="40" name="metric-before">
            <a:extLst xmlns:a="http://schemas.openxmlformats.org/drawingml/2006/main">
              <a:ext uri="{FF2B5EF4-FFF2-40B4-BE49-F238E27FC236}">
                <a16:creationId xmlns:a16="http://schemas.microsoft.com/office/drawing/2014/main" id="{E8CA4102-5057-4627-AE02-3ED0F5A1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C44747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C44747"/>
                </a:solidFill>
                <a:latin typeface="微软雅黑"/>
                <a:ea typeface="微软雅黑"/>
                <a:cs typeface="微软雅黑"/>
              </a:rPr>
              <a:t>71.88%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954D69-2321-495C-A10F-7CC14F61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81275"/>
            <a:ext cx="666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2" name="metric-after">
            <a:extLst xmlns:a="http://schemas.openxmlformats.org/drawingml/2006/main">
              <a:ext uri="{FF2B5EF4-FFF2-40B4-BE49-F238E27FC236}">
                <a16:creationId xmlns:a16="http://schemas.microsoft.com/office/drawing/2014/main" id="{F7484D78-44A6-4514-99DD-C8220C4B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97.81%</a:t>
            </a:r>
          </a:p>
        </p:txBody>
      </p:sp>
      <p:sp>
        <p:nvSpPr>
          <p:cNvPr id="43" name="metric-note">
            <a:extLst xmlns:a="http://schemas.openxmlformats.org/drawingml/2006/main">
              <a:ext uri="{FF2B5EF4-FFF2-40B4-BE49-F238E27FC236}">
                <a16:creationId xmlns:a16="http://schemas.microsoft.com/office/drawing/2014/main" id="{6F70C3DA-50DD-49D8-AB58-FE76E587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600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C647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C647A"/>
                </a:solidFill>
                <a:latin typeface="微软雅黑"/>
                <a:ea typeface="微软雅黑"/>
                <a:cs typeface="微软雅黑"/>
              </a:rPr>
              <a:t>baseline ×3 · spread 0     candidate ×3 · spread 0</a:t>
            </a:r>
          </a:p>
        </p:txBody>
      </p:sp>
      <p:sp>
        <p:nvSpPr>
          <p:cNvPr id="44" name="metric-exact">
            <a:extLst xmlns:a="http://schemas.openxmlformats.org/drawingml/2006/main">
              <a:ext uri="{FF2B5EF4-FFF2-40B4-BE49-F238E27FC236}">
                <a16:creationId xmlns:a16="http://schemas.microsoft.com/office/drawing/2014/main" id="{1455E046-F643-4AF9-B378-33864796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7291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精确值：71.875% × 3 → 97.8124976% × 3</a:t>
            </a:r>
          </a:p>
        </p:txBody>
      </p:sp>
      <p:sp>
        <p:nvSpPr>
          <p:cNvPr id="45" name="approval-proof">
            <a:extLst xmlns:a="http://schemas.openxmlformats.org/drawingml/2006/main">
              <a:ext uri="{FF2B5EF4-FFF2-40B4-BE49-F238E27FC236}">
                <a16:creationId xmlns:a16="http://schemas.microsoft.com/office/drawing/2014/main" id="{7D90C69F-BCE5-4AC7-BA36-456A0FE6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95500"/>
            <a:ext cx="2762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1EC"/>
          </a:solidFill>
          <a:ln xmlns:a="http://schemas.openxmlformats.org/drawingml/2006/main" w="9525">
            <a:solidFill>
              <a:srgbClr val="FFC2AD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审批与能力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APPROVED &lt; run start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host 8/8 · runner 10/10</a:t>
            </a:r>
          </a:p>
        </p:txBody>
      </p:sp>
      <p:sp>
        <p:nvSpPr>
          <p:cNvPr id="46" name="integrity-proof">
            <a:extLst xmlns:a="http://schemas.openxmlformats.org/drawingml/2006/main">
              <a:ext uri="{FF2B5EF4-FFF2-40B4-BE49-F238E27FC236}">
                <a16:creationId xmlns:a16="http://schemas.microsoft.com/office/drawing/2014/main" id="{F3FFB7BC-0B0D-4439-91EB-A65690B8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1F4FC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保护边界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6 组文件哈希不变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only 1 sandbox field changed</a:t>
            </a:r>
          </a:p>
        </p:txBody>
      </p:sp>
      <p:sp>
        <p:nvSpPr>
          <p:cNvPr id="47" name="runtime-proof">
            <a:extLst xmlns:a="http://schemas.openxmlformats.org/drawingml/2006/main">
              <a:ext uri="{FF2B5EF4-FFF2-40B4-BE49-F238E27FC236}">
                <a16:creationId xmlns:a16="http://schemas.microsoft.com/office/drawing/2014/main" id="{F6A48A44-AD4A-426F-BC2B-BC00A984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1F4FC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受限执行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Runner 0.2.0 · CPU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non-root · network=none</a:t>
            </a:r>
          </a:p>
        </p:txBody>
      </p:sp>
      <p:sp>
        <p:nvSpPr>
          <p:cNvPr id="48" name="trace-proof">
            <a:extLst xmlns:a="http://schemas.openxmlformats.org/drawingml/2006/main">
              <a:ext uri="{FF2B5EF4-FFF2-40B4-BE49-F238E27FC236}">
                <a16:creationId xmlns:a16="http://schemas.microsoft.com/office/drawing/2014/main" id="{288C2183-A39E-4837-B7B2-7636DA49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CF9F3"/>
          </a:solidFill>
          <a:ln xmlns:a="http://schemas.openxmlformats.org/drawingml/2006/main" w="9525">
            <a:solidFill>
              <a:srgbClr val="B8E7D2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独立审计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27 ZIP entries · 7 Trace entries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CHAIN_OK / ACCEPTED</a:t>
            </a:r>
          </a:p>
        </p:txBody>
      </p:sp>
      <p:sp>
        <p:nvSpPr>
          <p:cNvPr id="49" name="final-decision">
            <a:extLst xmlns:a="http://schemas.openxmlformats.org/drawingml/2006/main">
              <a:ext uri="{FF2B5EF4-FFF2-40B4-BE49-F238E27FC236}">
                <a16:creationId xmlns:a16="http://schemas.microsoft.com/office/drawing/2014/main" id="{A2BEB1CE-D160-4C6B-9FB0-6836E059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72125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Verification Auditor：PASS / RESOLVED</a:t>
            </a:r>
          </a:p>
        </p:txBody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2ab3a9eb004c95"/>
          <a:stretch xmlns:a="http://schemas.openxmlformats.org/drawingml/2006/main"/>
        </p:blipFill>
        <p:spPr>
          <a:xfrm xmlns:a="http://schemas.openxmlformats.org/drawingml/2006/main">
            <a:off x="10715625" y="1000125"/>
            <a:ext cx="904875" cy="904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01562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5FA0B99-C595-454C-B8E4-6ACF968A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06 · Demo 与证据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3FA62AE-94CF-4E03-8297-5AFD73D0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安全失败也是产品能力</a:t>
            </a:r>
            <a:endParaRPr sz="29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B4A38BB7-9BCF-44D6-A187-2A3D28E4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AT-002 同时保留能力不足 BLOCKED 路径与非法 metric 篡改回滚路径。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C0EA7A9D-B7BA-464C-B953-668E493C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478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5882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6633"/>
                </a:solidFill>
                <a:latin typeface="微软雅黑"/>
                <a:ea typeface="微软雅黑"/>
                <a:cs typeface="微软雅黑"/>
              </a:rPr>
              <a:t>两条保留案例</a:t>
            </a:r>
          </a:p>
        </p:txBody>
      </p:sp>
      <p:sp>
        <p:nvSpPr>
          <p:cNvPr id="40" name="metric-before">
            <a:extLst xmlns:a="http://schemas.openxmlformats.org/drawingml/2006/main">
              <a:ext uri="{FF2B5EF4-FFF2-40B4-BE49-F238E27FC236}">
                <a16:creationId xmlns:a16="http://schemas.microsoft.com/office/drawing/2014/main" id="{E8CA4102-5057-4627-AE02-3ED0F5A1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C44747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C44747"/>
                </a:solidFill>
                <a:latin typeface="微软雅黑"/>
                <a:ea typeface="微软雅黑"/>
                <a:cs typeface="微软雅黑"/>
              </a:rPr>
              <a:t>BLOCKED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954D69-2321-495C-A10F-7CC14F61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81275"/>
            <a:ext cx="666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2" name="metric-after">
            <a:extLst xmlns:a="http://schemas.openxmlformats.org/drawingml/2006/main">
              <a:ext uri="{FF2B5EF4-FFF2-40B4-BE49-F238E27FC236}">
                <a16:creationId xmlns:a16="http://schemas.microsoft.com/office/drawing/2014/main" id="{F7484D78-44A6-4514-99DD-C8220C4B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5357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ROLLED</a:t>
            </a:r>
          </a:p>
          <a:p xmlns:a="http://schemas.openxmlformats.org/drawingml/2006/main">
            <a:pPr algn="ctr">
              <a:buNone/>
              <a:defRPr sz="31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315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BACK</a:t>
            </a:r>
          </a:p>
        </p:txBody>
      </p:sp>
      <p:sp>
        <p:nvSpPr>
          <p:cNvPr id="43" name="metric-note">
            <a:extLst xmlns:a="http://schemas.openxmlformats.org/drawingml/2006/main">
              <a:ext uri="{FF2B5EF4-FFF2-40B4-BE49-F238E27FC236}">
                <a16:creationId xmlns:a16="http://schemas.microsoft.com/office/drawing/2014/main" id="{6F70C3DA-50DD-49D8-AB58-FE76E587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600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C647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C647A"/>
                </a:solidFill>
                <a:latin typeface="微软雅黑"/>
                <a:ea typeface="微软雅黑"/>
                <a:cs typeface="微软雅黑"/>
              </a:rPr>
              <a:t>AT-002 Worker 缺 torch        metric.py 非法篡改</a:t>
            </a:r>
          </a:p>
        </p:txBody>
      </p:sp>
      <p:sp>
        <p:nvSpPr>
          <p:cNvPr id="44" name="metric-exact">
            <a:extLst xmlns:a="http://schemas.openxmlformats.org/drawingml/2006/main">
              <a:ext uri="{FF2B5EF4-FFF2-40B4-BE49-F238E27FC236}">
                <a16:creationId xmlns:a16="http://schemas.microsoft.com/office/drawing/2014/main" id="{1455E046-F643-4AF9-B378-33864796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7291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不得在线安装依赖；回滚后 metric.py SHA-256 与原始值一致</a:t>
            </a:r>
          </a:p>
        </p:txBody>
      </p:sp>
      <p:sp>
        <p:nvSpPr>
          <p:cNvPr id="45" name="approval-proof">
            <a:extLst xmlns:a="http://schemas.openxmlformats.org/drawingml/2006/main">
              <a:ext uri="{FF2B5EF4-FFF2-40B4-BE49-F238E27FC236}">
                <a16:creationId xmlns:a16="http://schemas.microsoft.com/office/drawing/2014/main" id="{7D90C69F-BCE5-4AC7-BA36-456A0FE6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95500"/>
            <a:ext cx="2762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1EC"/>
          </a:solidFill>
          <a:ln xmlns:a="http://schemas.openxmlformats.org/drawingml/2006/main" w="9525">
            <a:solidFill>
              <a:srgbClr val="FFC2AD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依赖缺失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不在 Worker 安装 torch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正式保持 BLOCKED</a:t>
            </a:r>
          </a:p>
        </p:txBody>
      </p:sp>
      <p:sp>
        <p:nvSpPr>
          <p:cNvPr id="46" name="integrity-proof">
            <a:extLst xmlns:a="http://schemas.openxmlformats.org/drawingml/2006/main">
              <a:ext uri="{FF2B5EF4-FFF2-40B4-BE49-F238E27FC236}">
                <a16:creationId xmlns:a16="http://schemas.microsoft.com/office/drawing/2014/main" id="{F3FFB7BC-0B0D-4439-91EB-A65690B8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1F4FC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策略越界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修改 metric.py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POLICY_VIOLATION</a:t>
            </a:r>
          </a:p>
        </p:txBody>
      </p:sp>
      <p:sp>
        <p:nvSpPr>
          <p:cNvPr id="47" name="runtime-proof">
            <a:extLst xmlns:a="http://schemas.openxmlformats.org/drawingml/2006/main">
              <a:ext uri="{FF2B5EF4-FFF2-40B4-BE49-F238E27FC236}">
                <a16:creationId xmlns:a16="http://schemas.microsoft.com/office/drawing/2014/main" id="{F6A48A44-AD4A-426F-BC2B-BC00A984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1F4FC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回滚验证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保护哈希 before==after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原工作区未修改</a:t>
            </a:r>
          </a:p>
        </p:txBody>
      </p:sp>
      <p:sp>
        <p:nvSpPr>
          <p:cNvPr id="48" name="trace-proof">
            <a:extLst xmlns:a="http://schemas.openxmlformats.org/drawingml/2006/main">
              <a:ext uri="{FF2B5EF4-FFF2-40B4-BE49-F238E27FC236}">
                <a16:creationId xmlns:a16="http://schemas.microsoft.com/office/drawing/2014/main" id="{288C2183-A39E-4837-B7B2-7636DA49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0050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CF9F3"/>
          </a:solidFill>
          <a:ln xmlns:a="http://schemas.openxmlformats.org/drawingml/2006/main" w="9525">
            <a:solidFill>
              <a:srgbClr val="B8E7D2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证据归属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AT-002 含 unsafe branch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正式证据包：AT-002 / 003 / 004</a:t>
            </a:r>
          </a:p>
        </p:txBody>
      </p:sp>
      <p:sp>
        <p:nvSpPr>
          <p:cNvPr id="49" name="final-decision">
            <a:extLst xmlns:a="http://schemas.openxmlformats.org/drawingml/2006/main">
              <a:ext uri="{FF2B5EF4-FFF2-40B4-BE49-F238E27FC236}">
                <a16:creationId xmlns:a16="http://schemas.microsoft.com/office/drawing/2014/main" id="{A2BEB1CE-D160-4C6B-9FB0-6836E059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72125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失败分支可复盘、可审计，但不会伪造 RESOLVED</a:t>
            </a:r>
          </a:p>
        </p:txBody>
      </p:sp>
    </p:spTree>
    <p:extLst>
      <p:ext uri="{BB962C8B-B14F-4D97-AF65-F5344CB8AC3E}">
        <p14:creationId xmlns:p14="http://schemas.microsoft.com/office/powerpoint/2010/main" val="6270156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B9515D8-879F-4E3D-A7C5-89CC0F9B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07 · 开放 / 开源与路线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FB408BC-1BE4-4547-9ACB-C98C08C5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开源成果、Public Demo 与落地路线</a:t>
            </a:r>
            <a:endParaRPr sz="29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41288F90-79BA-4C9C-A15F-75B54B4F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源码、Evidence Replay 与路线分层公开；Runner 镜像仍服从许可证门禁。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open-now-label">
            <a:extLst xmlns:a="http://schemas.openxmlformats.org/drawingml/2006/main">
              <a:ext uri="{FF2B5EF4-FFF2-40B4-BE49-F238E27FC236}">
                <a16:creationId xmlns:a16="http://schemas.microsoft.com/office/drawing/2014/main" id="{BDB948B9-8336-4FC8-9D51-86FE7CB5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3A36D"/>
                </a:solidFill>
                <a:latin typeface="微软雅黑"/>
                <a:ea typeface="微软雅黑"/>
                <a:cs typeface="微软雅黑"/>
              </a:rPr>
              <a:t>已完成 · 可复用</a:t>
            </a:r>
          </a:p>
        </p:txBody>
      </p:sp>
      <p:sp>
        <p:nvSpPr>
          <p:cNvPr id="40" name="open-now">
            <a:extLst xmlns:a="http://schemas.openxmlformats.org/drawingml/2006/main">
              <a:ext uri="{FF2B5EF4-FFF2-40B4-BE49-F238E27FC236}">
                <a16:creationId xmlns:a16="http://schemas.microsoft.com/office/drawing/2014/main" id="{821AA509-153A-4A62-906B-4DC81166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066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9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D2342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D2342"/>
                </a:solidFill>
                <a:latin typeface="微软雅黑"/>
                <a:ea typeface="微软雅黑"/>
                <a:cs typeface="微软雅黑"/>
              </a:rPr>
              <a:t>Apache-2.0 源码 / 7 Skills / Schema / 三案例证据 / Case Memory / CI / Public Demo</a:t>
            </a:r>
          </a:p>
        </p:txBody>
      </p:sp>
      <p:sp>
        <p:nvSpPr>
          <p:cNvPr id="41" name="gates-label">
            <a:extLst xmlns:a="http://schemas.openxmlformats.org/drawingml/2006/main">
              <a:ext uri="{FF2B5EF4-FFF2-40B4-BE49-F238E27FC236}">
                <a16:creationId xmlns:a16="http://schemas.microsoft.com/office/drawing/2014/main" id="{8DFA1DC7-615F-4BC2-BE4F-9A08E4FF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66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6633"/>
                </a:solidFill>
                <a:latin typeface="微软雅黑"/>
                <a:ea typeface="微软雅黑"/>
                <a:cs typeface="微软雅黑"/>
              </a:rPr>
              <a:t>Public Demo / GitHub</a:t>
            </a:r>
          </a:p>
        </p:txBody>
      </p:sp>
      <p:sp>
        <p:nvSpPr>
          <p:cNvPr id="42" name="gates">
            <a:extLst xmlns:a="http://schemas.openxmlformats.org/drawingml/2006/main">
              <a:ext uri="{FF2B5EF4-FFF2-40B4-BE49-F238E27FC236}">
                <a16:creationId xmlns:a16="http://schemas.microsoft.com/office/drawing/2014/main" id="{6A6CA3CA-B9F6-4F80-95F9-5E3D70B6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1066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jakiic.github.io/LabOps-Guard/     github.com/JAKIIC/LabOps-Guard</a:t>
            </a:r>
          </a:p>
        </p:txBody>
      </p:sp>
      <p:sp>
        <p:nvSpPr>
          <p:cNvPr id="43" name="future-label">
            <a:extLst xmlns:a="http://schemas.openxmlformats.org/drawingml/2006/main">
              <a:ext uri="{FF2B5EF4-FFF2-40B4-BE49-F238E27FC236}">
                <a16:creationId xmlns:a16="http://schemas.microsoft.com/office/drawing/2014/main" id="{C8D6E492-D9C1-40EC-A4E1-A6CC8305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C647A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5C647A"/>
                </a:solidFill>
                <a:latin typeface="微软雅黑"/>
                <a:ea typeface="微软雅黑"/>
                <a:cs typeface="微软雅黑"/>
              </a:rPr>
              <a:t>落地路线</a:t>
            </a:r>
          </a:p>
        </p:txBody>
      </p:sp>
      <p:sp>
        <p:nvSpPr>
          <p:cNvPr id="44" name="future">
            <a:extLst xmlns:a="http://schemas.openxmlformats.org/drawingml/2006/main">
              <a:ext uri="{FF2B5EF4-FFF2-40B4-BE49-F238E27FC236}">
                <a16:creationId xmlns:a16="http://schemas.microsoft.com/office/drawing/2014/main" id="{20FCB83D-14F9-48CB-BBC4-802B587A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5C647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5C647A"/>
                </a:solidFill>
                <a:latin typeface="微软雅黑"/>
                <a:ea typeface="微软雅黑"/>
                <a:cs typeface="微软雅黑"/>
              </a:rPr>
              <a:t>当前：可信单机 CPU 治理  →  复赛：通用 Experiment Adapter  →  生产化：身份 / 队列 / 多租户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1806d1b2c44dd3"/>
          <a:stretch xmlns:a="http://schemas.openxmlformats.org/drawingml/2006/main"/>
        </p:blipFill>
        <p:spPr>
          <a:xfrm xmlns:a="http://schemas.openxmlformats.org/drawingml/2006/main">
            <a:off x="9858375" y="790575"/>
            <a:ext cx="781050" cy="781050"/>
          </a:xfrm>
          <a:prstGeom xmlns:a="http://schemas.openxmlformats.org/drawingml/2006/main" prst="rect">
            <a:avLst/>
          </a:prstGeom>
        </p:spPr>
      </p:pic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d1d8306ea94fac"/>
          <a:stretch xmlns:a="http://schemas.openxmlformats.org/drawingml/2006/main"/>
        </p:blipFill>
        <p:spPr>
          <a:xfrm xmlns:a="http://schemas.openxmlformats.org/drawingml/2006/main">
            <a:off x="10858500" y="790575"/>
            <a:ext cx="781050" cy="781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27717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F56F462-837E-4A2C-9B8B-B5CBAB57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08 · 团队介绍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768E1CC-0218-401F-A6F8-E444CC12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贾奇奇｜个人参赛者</a:t>
            </a:r>
            <a:endParaRPr sz="29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AF16AA40-8CA5-44FE-9A71-704B4B0C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18</a:t>
            </a:r>
            <a:endParaRPr sz="10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71F3F9DC-D0B4-4BCB-AE9B-4A391535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98575"/>
            <a:ext cx="801306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北京交通大学 · 信息与通信工程硕士｜研究方向：面向视觉的语义通信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4CC9CC-2520-4ACD-8CD2-5632A5BB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390900"/>
            <a:ext cx="5238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9AE421-A5B3-4361-825E-62EF8DA4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90900"/>
            <a:ext cx="52387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197"/>
          </a:solidFill>
          <a:ln xmlns:a="http://schemas.openxmlformats.org/drawingml/2006/main" w="0">
            <a:solidFill>
              <a:srgbClr val="FFB197"/>
            </a:solidFill>
            <a:prstDash val="solid"/>
          </a:ln>
        </p:spPr>
      </p:sp>
      <p:sp>
        <p:nvSpPr>
          <p:cNvPr id="41" name="done-phase">
            <a:extLst xmlns:a="http://schemas.openxmlformats.org/drawingml/2006/main">
              <a:ext uri="{FF2B5EF4-FFF2-40B4-BE49-F238E27FC236}">
                <a16:creationId xmlns:a16="http://schemas.microsoft.com/office/drawing/2014/main" id="{F8150252-F88C-4A06-A96B-BCD1D2BB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30003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CF9F3"/>
          </a:solidFill>
          <a:ln xmlns:a="http://schemas.openxmlformats.org/drawingml/2006/main" w="9525">
            <a:solidFill>
              <a:srgbClr val="B8E7D2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研究与成果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V2V / V2I 视觉语义通信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Transformer 语义分割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Cityscapes mIoU 73.76%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Accuracy 93.828%</a:t>
            </a:r>
          </a:p>
        </p:txBody>
      </p:sp>
      <p:sp>
        <p:nvSpPr>
          <p:cNvPr id="42" name="gate-phase">
            <a:extLst xmlns:a="http://schemas.openxmlformats.org/drawingml/2006/main">
              <a:ext uri="{FF2B5EF4-FFF2-40B4-BE49-F238E27FC236}">
                <a16:creationId xmlns:a16="http://schemas.microsoft.com/office/drawing/2014/main" id="{FF33ECCB-8BEB-404F-B2FC-E457804C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238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1EC"/>
          </a:solidFill>
          <a:ln xmlns:a="http://schemas.openxmlformats.org/drawingml/2006/main" w="9525">
            <a:solidFill>
              <a:srgbClr val="FFC2AD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SCI Q2 论文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Intelligent Cooperative Perception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Technology for Vehicles and Experiments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Based on V2V/V2I Semantic Communication</a:t>
            </a:r>
          </a:p>
        </p:txBody>
      </p:sp>
      <p:sp>
        <p:nvSpPr>
          <p:cNvPr id="43" name="next-phase">
            <a:extLst xmlns:a="http://schemas.openxmlformats.org/drawingml/2006/main">
              <a:ext uri="{FF2B5EF4-FFF2-40B4-BE49-F238E27FC236}">
                <a16:creationId xmlns:a16="http://schemas.microsoft.com/office/drawing/2014/main" id="{03DC9AE0-E3CA-48E4-8CA3-B912E340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81250"/>
            <a:ext cx="30956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1F4FC"/>
          </a:solidFill>
          <a:ln xmlns:a="http://schemas.openxmlformats.org/drawingml/2006/main" w="9525">
            <a:solidFill>
              <a:srgbClr val="DCE5F6"/>
            </a:solidFill>
            <a:prstDash val="solid"/>
          </a:ln>
        </p:spPr>
        <p:txBody>
          <a:bodyPr xmlns:a="http://schemas.openxmlformats.org/drawingml/2006/main" lIns="171450" tIns="114300" rIns="1714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独立完成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多 Agent 架构与 7 个 Skill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受限 Runner 与证据系统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Demo / 开源治理 / 提交材料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8213D"/>
                </a:solidFill>
                <a:latin typeface="微软雅黑"/>
                <a:ea typeface="微软雅黑"/>
                <a:cs typeface="微软雅黑"/>
              </a:rPr>
              <a:t>Python · PyTorch · Docker / AI Infra</a:t>
            </a:r>
          </a:p>
        </p:txBody>
      </p:sp>
      <p:sp>
        <p:nvSpPr>
          <p:cNvPr id="44" name="risk-rule">
            <a:extLst xmlns:a="http://schemas.openxmlformats.org/drawingml/2006/main">
              <a:ext uri="{FF2B5EF4-FFF2-40B4-BE49-F238E27FC236}">
                <a16:creationId xmlns:a16="http://schemas.microsoft.com/office/drawing/2014/main" id="{2F64D684-0D9F-4ECC-9A59-03A35485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86375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D2342"/>
                </a:solidFill>
                <a:latin typeface="微软雅黑"/>
                <a:ea typeface="微软雅黑"/>
                <a:cs typeface="微软雅黑"/>
              </a:rPr>
              <a:t>LabOps Guard 判断一次 AI 实验结果是否有资格被系统承认
Demo: jakiic.github.io/LabOps-Guard/ · GitHub: github.com/JAKIIC/LabOps-Guard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91c4a5d58940ba"/>
          <a:stretch xmlns:a="http://schemas.openxmlformats.org/drawingml/2006/main"/>
        </p:blipFill>
        <p:spPr>
          <a:xfrm xmlns:a="http://schemas.openxmlformats.org/drawingml/2006/main">
            <a:off x="10477500" y="714375"/>
            <a:ext cx="1000125" cy="100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65537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2026-08-09T15:33:02.8270000Z</dcterms:created>
  <dcterms:modified xsi:type="dcterms:W3CDTF">2026-08-09T15:33:02.8270000Z</dcterms:modified>
</coreProperties>
</file>